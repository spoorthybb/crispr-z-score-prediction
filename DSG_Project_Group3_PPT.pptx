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3"/>
  </p:notesMasterIdLst>
  <p:sldIdLst>
    <p:sldId id="256" r:id="rId2"/>
    <p:sldId id="259" r:id="rId3"/>
    <p:sldId id="262" r:id="rId4"/>
    <p:sldId id="263" r:id="rId5"/>
    <p:sldId id="269" r:id="rId6"/>
    <p:sldId id="267" r:id="rId7"/>
    <p:sldId id="270" r:id="rId8"/>
    <p:sldId id="273" r:id="rId9"/>
    <p:sldId id="271" r:id="rId10"/>
    <p:sldId id="274" r:id="rId11"/>
    <p:sldId id="264" r:id="rId12"/>
  </p:sldIdLst>
  <p:sldSz cx="9144000" cy="5143500" type="screen16x9"/>
  <p:notesSz cx="6858000" cy="9144000"/>
  <p:embeddedFontLst>
    <p:embeddedFont>
      <p:font typeface="Quattrocento Sans" panose="020B0502050000020003"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9D086B-9E78-BE8A-0ABC-6772307E6F2F}" v="1" dt="2025-05-06T12:00:22.097"/>
    <p1510:client id="{22C06485-9CB0-DB60-9957-DCB00A576B4E}" v="319" dt="2025-05-06T17:17:13.803"/>
    <p1510:client id="{62FC6212-EB6A-9406-952D-51BD573B396A}" v="18" dt="2025-05-06T17:35:53.048"/>
    <p1510:client id="{967EFA15-27CE-9763-C9D1-929BFCB4D21E}" v="1160" dt="2025-05-06T17:21:31.997"/>
    <p1510:client id="{9B5DD27C-3D40-4581-8CBF-62C8DBB1316D}" v="401" dt="2025-05-06T11:42:10.6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666ED1-7749-4099-9A2A-103092F23157}" type="doc">
      <dgm:prSet loTypeId="urn:microsoft.com/office/officeart/2005/8/layout/default" loCatId="list" qsTypeId="urn:microsoft.com/office/officeart/2005/8/quickstyle/simple4" qsCatId="simple" csTypeId="urn:microsoft.com/office/officeart/2005/8/colors/accent1_5" csCatId="accent1" phldr="1"/>
      <dgm:spPr/>
      <dgm:t>
        <a:bodyPr/>
        <a:lstStyle/>
        <a:p>
          <a:endParaRPr lang="en-US"/>
        </a:p>
      </dgm:t>
    </dgm:pt>
    <dgm:pt modelId="{E025238B-7E0D-4D30-A437-2F0102DC7E5F}">
      <dgm:prSet/>
      <dgm:spPr/>
      <dgm:t>
        <a:bodyPr/>
        <a:lstStyle/>
        <a:p>
          <a:r>
            <a:rPr lang="en-US" b="1">
              <a:solidFill>
                <a:schemeClr val="tx1"/>
              </a:solidFill>
            </a:rPr>
            <a:t>1. Data Collection</a:t>
          </a:r>
          <a:r>
            <a:rPr lang="en-US">
              <a:solidFill>
                <a:schemeClr val="tx1"/>
              </a:solidFill>
            </a:rPr>
            <a:t> – Gather CRISPR screen data, epigenomic profiles, and transcription factor (TF) binding datasets across multiple cell lines.</a:t>
          </a:r>
          <a:br>
            <a:rPr lang="en-US">
              <a:solidFill>
                <a:schemeClr val="tx1"/>
              </a:solidFill>
            </a:rPr>
          </a:br>
          <a:endParaRPr lang="en-US">
            <a:solidFill>
              <a:schemeClr val="tx1"/>
            </a:solidFill>
          </a:endParaRPr>
        </a:p>
      </dgm:t>
    </dgm:pt>
    <dgm:pt modelId="{0FDE16CB-3CEB-4A74-ACA4-DCBADEB379DB}" type="parTrans" cxnId="{73F7CFA8-D481-422A-9A6B-5F22A0C40666}">
      <dgm:prSet/>
      <dgm:spPr/>
      <dgm:t>
        <a:bodyPr/>
        <a:lstStyle/>
        <a:p>
          <a:endParaRPr lang="en-US"/>
        </a:p>
      </dgm:t>
    </dgm:pt>
    <dgm:pt modelId="{A78C3566-10A7-458D-B01C-5DE8FB0EB437}" type="sibTrans" cxnId="{73F7CFA8-D481-422A-9A6B-5F22A0C40666}">
      <dgm:prSet/>
      <dgm:spPr/>
      <dgm:t>
        <a:bodyPr/>
        <a:lstStyle/>
        <a:p>
          <a:endParaRPr lang="en-US"/>
        </a:p>
      </dgm:t>
    </dgm:pt>
    <dgm:pt modelId="{04E39E4C-068A-4C7E-B451-67B06FFC2426}">
      <dgm:prSet/>
      <dgm:spPr/>
      <dgm:t>
        <a:bodyPr/>
        <a:lstStyle/>
        <a:p>
          <a:pPr rtl="0"/>
          <a:r>
            <a:rPr lang="en-US" b="1">
              <a:solidFill>
                <a:schemeClr val="tx1"/>
              </a:solidFill>
            </a:rPr>
            <a:t>2. Data Preprocessing</a:t>
          </a:r>
          <a:r>
            <a:rPr lang="en-US">
              <a:solidFill>
                <a:schemeClr val="tx1"/>
              </a:solidFill>
            </a:rPr>
            <a:t> – Clean and normalize raw data, handle missing values, and ensure consistency across different datasets.</a:t>
          </a:r>
          <a:br>
            <a:rPr lang="en-US">
              <a:solidFill>
                <a:schemeClr val="tx1"/>
              </a:solidFill>
            </a:rPr>
          </a:br>
          <a:endParaRPr lang="en-US">
            <a:solidFill>
              <a:srgbClr val="010000"/>
            </a:solidFill>
            <a:latin typeface="Arial"/>
          </a:endParaRPr>
        </a:p>
      </dgm:t>
    </dgm:pt>
    <dgm:pt modelId="{DA595EA1-C097-49D9-84C6-1A60391E9223}" type="parTrans" cxnId="{7DC2308A-7554-46B4-8E40-AB237A6BCCC6}">
      <dgm:prSet/>
      <dgm:spPr/>
      <dgm:t>
        <a:bodyPr/>
        <a:lstStyle/>
        <a:p>
          <a:endParaRPr lang="en-US"/>
        </a:p>
      </dgm:t>
    </dgm:pt>
    <dgm:pt modelId="{A33B34A3-EDDC-4CB5-8FAB-D5AC55B0F654}" type="sibTrans" cxnId="{7DC2308A-7554-46B4-8E40-AB237A6BCCC6}">
      <dgm:prSet/>
      <dgm:spPr/>
      <dgm:t>
        <a:bodyPr/>
        <a:lstStyle/>
        <a:p>
          <a:endParaRPr lang="en-US"/>
        </a:p>
      </dgm:t>
    </dgm:pt>
    <dgm:pt modelId="{7A0D081C-B5D3-4991-9EE7-251233963209}">
      <dgm:prSet/>
      <dgm:spPr/>
      <dgm:t>
        <a:bodyPr/>
        <a:lstStyle/>
        <a:p>
          <a:r>
            <a:rPr lang="en-US" b="1">
              <a:solidFill>
                <a:schemeClr val="tx1"/>
              </a:solidFill>
            </a:rPr>
            <a:t>5. Lazy Predict Regressor</a:t>
          </a:r>
          <a:r>
            <a:rPr lang="en-US">
              <a:solidFill>
                <a:schemeClr val="tx1"/>
              </a:solidFill>
            </a:rPr>
            <a:t> – </a:t>
          </a:r>
          <a:r>
            <a:rPr lang="en-US">
              <a:solidFill>
                <a:schemeClr val="tx1"/>
              </a:solidFill>
              <a:latin typeface="Arial"/>
            </a:rPr>
            <a:t>Used</a:t>
          </a:r>
          <a:r>
            <a:rPr lang="en-US">
              <a:solidFill>
                <a:schemeClr val="tx1"/>
              </a:solidFill>
            </a:rPr>
            <a:t> an automated model benchmarking tool to quickly test </a:t>
          </a:r>
          <a:r>
            <a:rPr lang="en-US">
              <a:solidFill>
                <a:schemeClr val="tx1"/>
              </a:solidFill>
              <a:latin typeface="Arial"/>
            </a:rPr>
            <a:t>multiple</a:t>
          </a:r>
          <a:r>
            <a:rPr lang="en-US">
              <a:solidFill>
                <a:schemeClr val="tx1"/>
              </a:solidFill>
            </a:rPr>
            <a:t> regression models for baseline comparisons.</a:t>
          </a:r>
          <a:br>
            <a:rPr lang="en-US">
              <a:solidFill>
                <a:schemeClr val="tx1"/>
              </a:solidFill>
            </a:rPr>
          </a:br>
          <a:endParaRPr lang="en-US">
            <a:solidFill>
              <a:schemeClr val="tx1"/>
            </a:solidFill>
          </a:endParaRPr>
        </a:p>
      </dgm:t>
    </dgm:pt>
    <dgm:pt modelId="{B46D147C-ABE9-4881-A75E-295468770136}" type="parTrans" cxnId="{AA77EB12-D049-48EE-B9DF-1EF41D4D22B0}">
      <dgm:prSet/>
      <dgm:spPr/>
      <dgm:t>
        <a:bodyPr/>
        <a:lstStyle/>
        <a:p>
          <a:endParaRPr lang="en-US"/>
        </a:p>
      </dgm:t>
    </dgm:pt>
    <dgm:pt modelId="{6E3328EB-95BC-42F8-B05A-A56B4EC9CADF}" type="sibTrans" cxnId="{AA77EB12-D049-48EE-B9DF-1EF41D4D22B0}">
      <dgm:prSet/>
      <dgm:spPr/>
      <dgm:t>
        <a:bodyPr/>
        <a:lstStyle/>
        <a:p>
          <a:endParaRPr lang="en-US"/>
        </a:p>
      </dgm:t>
    </dgm:pt>
    <dgm:pt modelId="{83E9374A-4204-4293-9BFA-C5CA3C797DBB}">
      <dgm:prSet/>
      <dgm:spPr/>
      <dgm:t>
        <a:bodyPr/>
        <a:lstStyle/>
        <a:p>
          <a:r>
            <a:rPr lang="en-US" b="1">
              <a:solidFill>
                <a:schemeClr val="tx1"/>
              </a:solidFill>
            </a:rPr>
            <a:t>6. Model Optimization</a:t>
          </a:r>
          <a:r>
            <a:rPr lang="en-US">
              <a:solidFill>
                <a:schemeClr val="tx1"/>
              </a:solidFill>
            </a:rPr>
            <a:t> – Fine-tune hyperparameters and select the best-performing machine learning model for predicting CRISPR Z-scores.</a:t>
          </a:r>
          <a:br>
            <a:rPr lang="en-US">
              <a:solidFill>
                <a:schemeClr val="tx1"/>
              </a:solidFill>
            </a:rPr>
          </a:br>
          <a:endParaRPr lang="en-US">
            <a:solidFill>
              <a:schemeClr val="tx1"/>
            </a:solidFill>
          </a:endParaRPr>
        </a:p>
      </dgm:t>
    </dgm:pt>
    <dgm:pt modelId="{2C71297B-B3AC-45A5-AA4F-40895C01512F}" type="parTrans" cxnId="{A844CA64-8A16-4087-87BA-7989B1CC9DE0}">
      <dgm:prSet/>
      <dgm:spPr/>
      <dgm:t>
        <a:bodyPr/>
        <a:lstStyle/>
        <a:p>
          <a:endParaRPr lang="en-US"/>
        </a:p>
      </dgm:t>
    </dgm:pt>
    <dgm:pt modelId="{D162B600-E09B-4D19-8E43-6A783CA99C4B}" type="sibTrans" cxnId="{A844CA64-8A16-4087-87BA-7989B1CC9DE0}">
      <dgm:prSet/>
      <dgm:spPr/>
      <dgm:t>
        <a:bodyPr/>
        <a:lstStyle/>
        <a:p>
          <a:endParaRPr lang="en-US"/>
        </a:p>
      </dgm:t>
    </dgm:pt>
    <dgm:pt modelId="{3F6B7E24-02E2-45FB-9F03-468283FE1FA0}">
      <dgm:prSet/>
      <dgm:spPr/>
      <dgm:t>
        <a:bodyPr/>
        <a:lstStyle/>
        <a:p>
          <a:pPr rtl="0"/>
          <a:r>
            <a:rPr lang="en-US" b="1">
              <a:solidFill>
                <a:schemeClr val="tx1"/>
              </a:solidFill>
            </a:rPr>
            <a:t>7. Feature Importance Evaluation</a:t>
          </a:r>
          <a:r>
            <a:rPr lang="en-US">
              <a:solidFill>
                <a:schemeClr val="tx1"/>
              </a:solidFill>
            </a:rPr>
            <a:t> – Determine which</a:t>
          </a:r>
          <a:r>
            <a:rPr lang="en-US">
              <a:solidFill>
                <a:schemeClr val="tx1"/>
              </a:solidFill>
              <a:latin typeface="Arial"/>
            </a:rPr>
            <a:t> mutations</a:t>
          </a:r>
          <a:r>
            <a:rPr lang="en-US">
              <a:solidFill>
                <a:schemeClr val="tx1"/>
              </a:solidFill>
            </a:rPr>
            <a:t> </a:t>
          </a:r>
          <a:r>
            <a:rPr lang="en-US">
              <a:solidFill>
                <a:schemeClr val="tx1"/>
              </a:solidFill>
              <a:latin typeface="Arial"/>
            </a:rPr>
            <a:t>and sequence based </a:t>
          </a:r>
          <a:r>
            <a:rPr lang="en-US">
              <a:solidFill>
                <a:schemeClr val="tx1"/>
              </a:solidFill>
            </a:rPr>
            <a:t>features contribute most to enhancer activity and gene regulation.</a:t>
          </a:r>
          <a:br>
            <a:rPr lang="en-US">
              <a:solidFill>
                <a:schemeClr val="tx1"/>
              </a:solidFill>
            </a:rPr>
          </a:br>
          <a:endParaRPr lang="en-US">
            <a:solidFill>
              <a:schemeClr val="tx1"/>
            </a:solidFill>
          </a:endParaRPr>
        </a:p>
      </dgm:t>
    </dgm:pt>
    <dgm:pt modelId="{D51F841A-0FFD-46AF-A866-40B5ECE20B63}" type="parTrans" cxnId="{E6C60D16-2B7A-43B9-9BB5-E0CF339FA7FE}">
      <dgm:prSet/>
      <dgm:spPr/>
      <dgm:t>
        <a:bodyPr/>
        <a:lstStyle/>
        <a:p>
          <a:endParaRPr lang="en-US"/>
        </a:p>
      </dgm:t>
    </dgm:pt>
    <dgm:pt modelId="{9BBFA2B1-701D-410F-B089-045EBF1EF78B}" type="sibTrans" cxnId="{E6C60D16-2B7A-43B9-9BB5-E0CF339FA7FE}">
      <dgm:prSet/>
      <dgm:spPr/>
      <dgm:t>
        <a:bodyPr/>
        <a:lstStyle/>
        <a:p>
          <a:endParaRPr lang="en-US"/>
        </a:p>
      </dgm:t>
    </dgm:pt>
    <dgm:pt modelId="{49E8B327-FD10-43FC-8E6F-02B403496316}">
      <dgm:prSet/>
      <dgm:spPr/>
      <dgm:t>
        <a:bodyPr/>
        <a:lstStyle/>
        <a:p>
          <a:pPr rtl="0"/>
          <a:r>
            <a:rPr lang="en-US" b="1">
              <a:solidFill>
                <a:schemeClr val="tx1"/>
              </a:solidFill>
            </a:rPr>
            <a:t>8. Model Evaluation &amp; Validation</a:t>
          </a:r>
          <a:r>
            <a:rPr lang="en-US">
              <a:solidFill>
                <a:schemeClr val="tx1"/>
              </a:solidFill>
            </a:rPr>
            <a:t> – Assess model performance using evaluation metrics like R² and RMSE to ensure reliability.</a:t>
          </a:r>
          <a:br>
            <a:rPr lang="en-US">
              <a:solidFill>
                <a:schemeClr val="tx1"/>
              </a:solidFill>
            </a:rPr>
          </a:br>
          <a:endParaRPr lang="en-US">
            <a:solidFill>
              <a:schemeClr val="tx1"/>
            </a:solidFill>
          </a:endParaRPr>
        </a:p>
      </dgm:t>
    </dgm:pt>
    <dgm:pt modelId="{3BCF10E8-06E3-485C-A4EF-FB2D3AA2D8AC}" type="parTrans" cxnId="{B707BC63-D315-4F91-B4BF-501013AA4C18}">
      <dgm:prSet/>
      <dgm:spPr/>
      <dgm:t>
        <a:bodyPr/>
        <a:lstStyle/>
        <a:p>
          <a:endParaRPr lang="en-US"/>
        </a:p>
      </dgm:t>
    </dgm:pt>
    <dgm:pt modelId="{4B544C48-3E4C-49FD-B8B2-D3597B439A81}" type="sibTrans" cxnId="{B707BC63-D315-4F91-B4BF-501013AA4C18}">
      <dgm:prSet/>
      <dgm:spPr/>
      <dgm:t>
        <a:bodyPr/>
        <a:lstStyle/>
        <a:p>
          <a:endParaRPr lang="en-US"/>
        </a:p>
      </dgm:t>
    </dgm:pt>
    <dgm:pt modelId="{76D9CAB6-3A42-4E7B-B7BB-35387DB664E5}">
      <dgm:prSet phldr="0"/>
      <dgm:spPr/>
      <dgm:t>
        <a:bodyPr/>
        <a:lstStyle/>
        <a:p>
          <a:pPr rtl="0"/>
          <a:r>
            <a:rPr lang="en-US" b="1">
              <a:solidFill>
                <a:srgbClr val="010000"/>
              </a:solidFill>
              <a:latin typeface="Arial"/>
            </a:rPr>
            <a:t>3. Exploratory Data Analysis (EDA)</a:t>
          </a:r>
          <a:r>
            <a:rPr lang="en-US">
              <a:solidFill>
                <a:srgbClr val="010000"/>
              </a:solidFill>
              <a:latin typeface="Arial"/>
            </a:rPr>
            <a:t> – Identify patterns, correlations, and distributions within the data across Z_scores to gain initial insights.</a:t>
          </a:r>
        </a:p>
      </dgm:t>
    </dgm:pt>
    <dgm:pt modelId="{57E4E42F-E086-4F05-9C45-41007958BFC3}" type="parTrans" cxnId="{65E61CD2-620E-4EBA-8CFA-C4C66B1A97C7}">
      <dgm:prSet/>
      <dgm:spPr/>
    </dgm:pt>
    <dgm:pt modelId="{5D13377A-4478-4572-8869-297F5F525C24}" type="sibTrans" cxnId="{65E61CD2-620E-4EBA-8CFA-C4C66B1A97C7}">
      <dgm:prSet/>
      <dgm:spPr/>
    </dgm:pt>
    <dgm:pt modelId="{C624F9E9-EE66-4D1D-AFF1-A46DCF8E242C}">
      <dgm:prSet phldr="0"/>
      <dgm:spPr/>
      <dgm:t>
        <a:bodyPr/>
        <a:lstStyle/>
        <a:p>
          <a:pPr rtl="0"/>
          <a:r>
            <a:rPr lang="en-US">
              <a:solidFill>
                <a:schemeClr val="tx1"/>
              </a:solidFill>
              <a:latin typeface="Arial"/>
            </a:rPr>
            <a:t>4</a:t>
          </a:r>
          <a:r>
            <a:rPr lang="en-US">
              <a:solidFill>
                <a:srgbClr val="010000"/>
              </a:solidFill>
              <a:latin typeface="Arial"/>
            </a:rPr>
            <a:t>.</a:t>
          </a:r>
          <a:r>
            <a:rPr lang="en-US" b="1">
              <a:solidFill>
                <a:srgbClr val="010000"/>
              </a:solidFill>
              <a:latin typeface="Arial"/>
            </a:rPr>
            <a:t> </a:t>
          </a:r>
          <a:r>
            <a:rPr lang="en-US" b="1">
              <a:solidFill>
                <a:schemeClr val="tx1"/>
              </a:solidFill>
              <a:latin typeface="Arial"/>
            </a:rPr>
            <a:t>Embedding Generation</a:t>
          </a:r>
          <a:r>
            <a:rPr lang="en-US" b="1">
              <a:solidFill>
                <a:srgbClr val="010000"/>
              </a:solidFill>
              <a:latin typeface="Arial"/>
            </a:rPr>
            <a:t> </a:t>
          </a:r>
          <a:r>
            <a:rPr lang="en-US" b="1">
              <a:solidFill>
                <a:schemeClr val="tx1"/>
              </a:solidFill>
              <a:latin typeface="Arial"/>
            </a:rPr>
            <a:t>–</a:t>
          </a:r>
          <a:r>
            <a:rPr lang="en-US">
              <a:solidFill>
                <a:schemeClr val="tx1"/>
              </a:solidFill>
              <a:latin typeface="Arial"/>
            </a:rPr>
            <a:t> </a:t>
          </a:r>
          <a:r>
            <a:rPr lang="en-US" err="1">
              <a:solidFill>
                <a:schemeClr val="tx1"/>
              </a:solidFill>
              <a:latin typeface="Arial"/>
            </a:rPr>
            <a:t>Biobart</a:t>
          </a:r>
          <a:r>
            <a:rPr lang="en-US">
              <a:solidFill>
                <a:srgbClr val="010000"/>
              </a:solidFill>
              <a:latin typeface="Arial"/>
            </a:rPr>
            <a:t> </a:t>
          </a:r>
          <a:r>
            <a:rPr lang="en-US">
              <a:solidFill>
                <a:schemeClr val="tx1"/>
              </a:solidFill>
              <a:latin typeface="Arial"/>
            </a:rPr>
            <a:t>was</a:t>
          </a:r>
          <a:r>
            <a:rPr lang="en-US">
              <a:solidFill>
                <a:srgbClr val="010000"/>
              </a:solidFill>
              <a:latin typeface="Arial"/>
            </a:rPr>
            <a:t> </a:t>
          </a:r>
          <a:r>
            <a:rPr lang="en-US">
              <a:solidFill>
                <a:schemeClr val="tx1"/>
              </a:solidFill>
              <a:latin typeface="Arial"/>
            </a:rPr>
            <a:t>used </a:t>
          </a:r>
          <a:r>
            <a:rPr lang="en-US">
              <a:solidFill>
                <a:srgbClr val="010000"/>
              </a:solidFill>
              <a:latin typeface="Arial"/>
            </a:rPr>
            <a:t>to </a:t>
          </a:r>
          <a:r>
            <a:rPr lang="en-US">
              <a:solidFill>
                <a:schemeClr val="tx1"/>
              </a:solidFill>
              <a:latin typeface="Arial"/>
            </a:rPr>
            <a:t>generate embeddings</a:t>
          </a:r>
          <a:r>
            <a:rPr lang="en-US">
              <a:solidFill>
                <a:srgbClr val="010000"/>
              </a:solidFill>
              <a:latin typeface="Arial"/>
            </a:rPr>
            <a:t> </a:t>
          </a:r>
          <a:r>
            <a:rPr lang="en-US">
              <a:solidFill>
                <a:schemeClr val="tx1"/>
              </a:solidFill>
              <a:latin typeface="Arial"/>
            </a:rPr>
            <a:t>corresponding to hg19</a:t>
          </a:r>
          <a:r>
            <a:rPr lang="en-US">
              <a:solidFill>
                <a:srgbClr val="010000"/>
              </a:solidFill>
              <a:latin typeface="Arial"/>
            </a:rPr>
            <a:t> </a:t>
          </a:r>
          <a:r>
            <a:rPr lang="en-US">
              <a:solidFill>
                <a:schemeClr val="tx1"/>
              </a:solidFill>
              <a:latin typeface="Arial"/>
            </a:rPr>
            <a:t>sequences</a:t>
          </a:r>
          <a:r>
            <a:rPr lang="en-US">
              <a:solidFill>
                <a:srgbClr val="010000"/>
              </a:solidFill>
              <a:latin typeface="Arial"/>
            </a:rPr>
            <a:t>. </a:t>
          </a:r>
          <a:br>
            <a:rPr lang="en-US">
              <a:solidFill>
                <a:schemeClr val="tx1"/>
              </a:solidFill>
            </a:rPr>
          </a:br>
          <a:endParaRPr lang="en-US"/>
        </a:p>
      </dgm:t>
    </dgm:pt>
    <dgm:pt modelId="{ECC73E68-2052-43D0-A40B-F8343083E79B}" type="parTrans" cxnId="{29E39E7B-7D17-4319-AB33-892863C068FC}">
      <dgm:prSet/>
      <dgm:spPr/>
    </dgm:pt>
    <dgm:pt modelId="{23F71A24-9C60-4F6E-AC94-EEC3C9FD1BC0}" type="sibTrans" cxnId="{29E39E7B-7D17-4319-AB33-892863C068FC}">
      <dgm:prSet/>
      <dgm:spPr/>
    </dgm:pt>
    <dgm:pt modelId="{77598F9F-813A-466C-8945-EB949D2470FD}" type="pres">
      <dgm:prSet presAssocID="{73666ED1-7749-4099-9A2A-103092F23157}" presName="diagram" presStyleCnt="0">
        <dgm:presLayoutVars>
          <dgm:dir/>
          <dgm:resizeHandles val="exact"/>
        </dgm:presLayoutVars>
      </dgm:prSet>
      <dgm:spPr/>
    </dgm:pt>
    <dgm:pt modelId="{4C115CEF-0890-4A35-AE48-D45C8E32A9A0}" type="pres">
      <dgm:prSet presAssocID="{E025238B-7E0D-4D30-A437-2F0102DC7E5F}" presName="node" presStyleLbl="node1" presStyleIdx="0" presStyleCnt="8" custLinFactNeighborX="-13253" custLinFactNeighborY="1699">
        <dgm:presLayoutVars>
          <dgm:bulletEnabled val="1"/>
        </dgm:presLayoutVars>
      </dgm:prSet>
      <dgm:spPr/>
    </dgm:pt>
    <dgm:pt modelId="{1CCD12F9-01E7-4ED2-9D09-753B514DE6C5}" type="pres">
      <dgm:prSet presAssocID="{A78C3566-10A7-458D-B01C-5DE8FB0EB437}" presName="sibTrans" presStyleCnt="0"/>
      <dgm:spPr/>
    </dgm:pt>
    <dgm:pt modelId="{CC9DB5CF-616D-4CD7-BAB8-7A4F0E68EA98}" type="pres">
      <dgm:prSet presAssocID="{04E39E4C-068A-4C7E-B451-67B06FFC2426}" presName="node" presStyleLbl="node1" presStyleIdx="1" presStyleCnt="8" custLinFactNeighborX="-5607">
        <dgm:presLayoutVars>
          <dgm:bulletEnabled val="1"/>
        </dgm:presLayoutVars>
      </dgm:prSet>
      <dgm:spPr/>
    </dgm:pt>
    <dgm:pt modelId="{70919C5A-902D-438A-A36B-36247C1C0ED5}" type="pres">
      <dgm:prSet presAssocID="{A33B34A3-EDDC-4CB5-8FAB-D5AC55B0F654}" presName="sibTrans" presStyleCnt="0"/>
      <dgm:spPr/>
    </dgm:pt>
    <dgm:pt modelId="{D246330D-8AA4-497B-B689-330DADE8327B}" type="pres">
      <dgm:prSet presAssocID="{76D9CAB6-3A42-4E7B-B7BB-35387DB664E5}" presName="node" presStyleLbl="node1" presStyleIdx="2" presStyleCnt="8">
        <dgm:presLayoutVars>
          <dgm:bulletEnabled val="1"/>
        </dgm:presLayoutVars>
      </dgm:prSet>
      <dgm:spPr/>
    </dgm:pt>
    <dgm:pt modelId="{64A29615-C9CF-4FC4-808F-A2D825345230}" type="pres">
      <dgm:prSet presAssocID="{5D13377A-4478-4572-8869-297F5F525C24}" presName="sibTrans" presStyleCnt="0"/>
      <dgm:spPr/>
    </dgm:pt>
    <dgm:pt modelId="{844956B1-AC9B-4061-8FF9-29D97CF4811B}" type="pres">
      <dgm:prSet presAssocID="{C624F9E9-EE66-4D1D-AFF1-A46DCF8E242C}" presName="node" presStyleLbl="node1" presStyleIdx="3" presStyleCnt="8">
        <dgm:presLayoutVars>
          <dgm:bulletEnabled val="1"/>
        </dgm:presLayoutVars>
      </dgm:prSet>
      <dgm:spPr/>
    </dgm:pt>
    <dgm:pt modelId="{662C58D9-7DB2-46E3-B609-3C86AEE3D430}" type="pres">
      <dgm:prSet presAssocID="{23F71A24-9C60-4F6E-AC94-EEC3C9FD1BC0}" presName="sibTrans" presStyleCnt="0"/>
      <dgm:spPr/>
    </dgm:pt>
    <dgm:pt modelId="{DFC9F575-55FB-49DC-BFD7-FD484815838D}" type="pres">
      <dgm:prSet presAssocID="{7A0D081C-B5D3-4991-9EE7-251233963209}" presName="node" presStyleLbl="node1" presStyleIdx="4" presStyleCnt="8" custLinFactNeighborX="-13762" custLinFactNeighborY="3398">
        <dgm:presLayoutVars>
          <dgm:bulletEnabled val="1"/>
        </dgm:presLayoutVars>
      </dgm:prSet>
      <dgm:spPr/>
    </dgm:pt>
    <dgm:pt modelId="{3CC3E6EA-B430-4D77-B7CA-D8185447899C}" type="pres">
      <dgm:prSet presAssocID="{6E3328EB-95BC-42F8-B05A-A56B4EC9CADF}" presName="sibTrans" presStyleCnt="0"/>
      <dgm:spPr/>
    </dgm:pt>
    <dgm:pt modelId="{C3230D72-606D-465C-9278-09C3319D27ED}" type="pres">
      <dgm:prSet presAssocID="{83E9374A-4204-4293-9BFA-C5CA3C797DBB}" presName="node" presStyleLbl="node1" presStyleIdx="5" presStyleCnt="8" custScaleX="93076" custLinFactNeighborX="-7542" custLinFactNeighborY="1649">
        <dgm:presLayoutVars>
          <dgm:bulletEnabled val="1"/>
        </dgm:presLayoutVars>
      </dgm:prSet>
      <dgm:spPr/>
    </dgm:pt>
    <dgm:pt modelId="{6C17DCC6-624F-4110-A345-E82E0B2917FD}" type="pres">
      <dgm:prSet presAssocID="{D162B600-E09B-4D19-8E43-6A783CA99C4B}" presName="sibTrans" presStyleCnt="0"/>
      <dgm:spPr/>
    </dgm:pt>
    <dgm:pt modelId="{5E715853-E523-4364-A7C5-25294D60ECCC}" type="pres">
      <dgm:prSet presAssocID="{3F6B7E24-02E2-45FB-9F03-468283FE1FA0}" presName="node" presStyleLbl="node1" presStyleIdx="6" presStyleCnt="8" custLinFactNeighborX="2194" custLinFactNeighborY="4050">
        <dgm:presLayoutVars>
          <dgm:bulletEnabled val="1"/>
        </dgm:presLayoutVars>
      </dgm:prSet>
      <dgm:spPr/>
    </dgm:pt>
    <dgm:pt modelId="{6FFFE4A0-392C-4C52-9230-78D6BFD5B560}" type="pres">
      <dgm:prSet presAssocID="{9BBFA2B1-701D-410F-B089-045EBF1EF78B}" presName="sibTrans" presStyleCnt="0"/>
      <dgm:spPr/>
    </dgm:pt>
    <dgm:pt modelId="{364B1A94-F625-46A6-9859-B60E74D5C69E}" type="pres">
      <dgm:prSet presAssocID="{49E8B327-FD10-43FC-8E6F-02B403496316}" presName="node" presStyleLbl="node1" presStyleIdx="7" presStyleCnt="8" custScaleX="99130" custLinFactNeighborX="12142" custLinFactNeighborY="1784">
        <dgm:presLayoutVars>
          <dgm:bulletEnabled val="1"/>
        </dgm:presLayoutVars>
      </dgm:prSet>
      <dgm:spPr/>
    </dgm:pt>
  </dgm:ptLst>
  <dgm:cxnLst>
    <dgm:cxn modelId="{B436C607-EEF7-4933-9D13-E1432B600A49}" type="presOf" srcId="{49E8B327-FD10-43FC-8E6F-02B403496316}" destId="{364B1A94-F625-46A6-9859-B60E74D5C69E}" srcOrd="0" destOrd="0" presId="urn:microsoft.com/office/officeart/2005/8/layout/default"/>
    <dgm:cxn modelId="{AA77EB12-D049-48EE-B9DF-1EF41D4D22B0}" srcId="{73666ED1-7749-4099-9A2A-103092F23157}" destId="{7A0D081C-B5D3-4991-9EE7-251233963209}" srcOrd="4" destOrd="0" parTransId="{B46D147C-ABE9-4881-A75E-295468770136}" sibTransId="{6E3328EB-95BC-42F8-B05A-A56B4EC9CADF}"/>
    <dgm:cxn modelId="{E6C60D16-2B7A-43B9-9BB5-E0CF339FA7FE}" srcId="{73666ED1-7749-4099-9A2A-103092F23157}" destId="{3F6B7E24-02E2-45FB-9F03-468283FE1FA0}" srcOrd="6" destOrd="0" parTransId="{D51F841A-0FFD-46AF-A866-40B5ECE20B63}" sibTransId="{9BBFA2B1-701D-410F-B089-045EBF1EF78B}"/>
    <dgm:cxn modelId="{77737C1C-7FFF-4189-BC62-024E948ACB15}" type="presOf" srcId="{C624F9E9-EE66-4D1D-AFF1-A46DCF8E242C}" destId="{844956B1-AC9B-4061-8FF9-29D97CF4811B}" srcOrd="0" destOrd="0" presId="urn:microsoft.com/office/officeart/2005/8/layout/default"/>
    <dgm:cxn modelId="{390D6A26-4044-4C91-8ADB-EDE9CEAFA50A}" type="presOf" srcId="{73666ED1-7749-4099-9A2A-103092F23157}" destId="{77598F9F-813A-466C-8945-EB949D2470FD}" srcOrd="0" destOrd="0" presId="urn:microsoft.com/office/officeart/2005/8/layout/default"/>
    <dgm:cxn modelId="{A99B622D-4574-44A4-AACF-EFFAA76D69EA}" type="presOf" srcId="{76D9CAB6-3A42-4E7B-B7BB-35387DB664E5}" destId="{D246330D-8AA4-497B-B689-330DADE8327B}" srcOrd="0" destOrd="0" presId="urn:microsoft.com/office/officeart/2005/8/layout/default"/>
    <dgm:cxn modelId="{B707BC63-D315-4F91-B4BF-501013AA4C18}" srcId="{73666ED1-7749-4099-9A2A-103092F23157}" destId="{49E8B327-FD10-43FC-8E6F-02B403496316}" srcOrd="7" destOrd="0" parTransId="{3BCF10E8-06E3-485C-A4EF-FB2D3AA2D8AC}" sibTransId="{4B544C48-3E4C-49FD-B8B2-D3597B439A81}"/>
    <dgm:cxn modelId="{A844CA64-8A16-4087-87BA-7989B1CC9DE0}" srcId="{73666ED1-7749-4099-9A2A-103092F23157}" destId="{83E9374A-4204-4293-9BFA-C5CA3C797DBB}" srcOrd="5" destOrd="0" parTransId="{2C71297B-B3AC-45A5-AA4F-40895C01512F}" sibTransId="{D162B600-E09B-4D19-8E43-6A783CA99C4B}"/>
    <dgm:cxn modelId="{29E39E7B-7D17-4319-AB33-892863C068FC}" srcId="{73666ED1-7749-4099-9A2A-103092F23157}" destId="{C624F9E9-EE66-4D1D-AFF1-A46DCF8E242C}" srcOrd="3" destOrd="0" parTransId="{ECC73E68-2052-43D0-A40B-F8343083E79B}" sibTransId="{23F71A24-9C60-4F6E-AC94-EEC3C9FD1BC0}"/>
    <dgm:cxn modelId="{7DC2308A-7554-46B4-8E40-AB237A6BCCC6}" srcId="{73666ED1-7749-4099-9A2A-103092F23157}" destId="{04E39E4C-068A-4C7E-B451-67B06FFC2426}" srcOrd="1" destOrd="0" parTransId="{DA595EA1-C097-49D9-84C6-1A60391E9223}" sibTransId="{A33B34A3-EDDC-4CB5-8FAB-D5AC55B0F654}"/>
    <dgm:cxn modelId="{124547A7-0888-4A09-8FCF-6C7C7ACBA989}" type="presOf" srcId="{83E9374A-4204-4293-9BFA-C5CA3C797DBB}" destId="{C3230D72-606D-465C-9278-09C3319D27ED}" srcOrd="0" destOrd="0" presId="urn:microsoft.com/office/officeart/2005/8/layout/default"/>
    <dgm:cxn modelId="{73F7CFA8-D481-422A-9A6B-5F22A0C40666}" srcId="{73666ED1-7749-4099-9A2A-103092F23157}" destId="{E025238B-7E0D-4D30-A437-2F0102DC7E5F}" srcOrd="0" destOrd="0" parTransId="{0FDE16CB-3CEB-4A74-ACA4-DCBADEB379DB}" sibTransId="{A78C3566-10A7-458D-B01C-5DE8FB0EB437}"/>
    <dgm:cxn modelId="{83C1B0AA-0C01-4C40-9F75-E307C37C671B}" type="presOf" srcId="{E025238B-7E0D-4D30-A437-2F0102DC7E5F}" destId="{4C115CEF-0890-4A35-AE48-D45C8E32A9A0}" srcOrd="0" destOrd="0" presId="urn:microsoft.com/office/officeart/2005/8/layout/default"/>
    <dgm:cxn modelId="{D474CCBA-74ED-47F7-A6CB-122C9D8EAF02}" type="presOf" srcId="{3F6B7E24-02E2-45FB-9F03-468283FE1FA0}" destId="{5E715853-E523-4364-A7C5-25294D60ECCC}" srcOrd="0" destOrd="0" presId="urn:microsoft.com/office/officeart/2005/8/layout/default"/>
    <dgm:cxn modelId="{65E61CD2-620E-4EBA-8CFA-C4C66B1A97C7}" srcId="{73666ED1-7749-4099-9A2A-103092F23157}" destId="{76D9CAB6-3A42-4E7B-B7BB-35387DB664E5}" srcOrd="2" destOrd="0" parTransId="{57E4E42F-E086-4F05-9C45-41007958BFC3}" sibTransId="{5D13377A-4478-4572-8869-297F5F525C24}"/>
    <dgm:cxn modelId="{119A61D8-D04C-4159-95A8-573C6987D6A5}" type="presOf" srcId="{7A0D081C-B5D3-4991-9EE7-251233963209}" destId="{DFC9F575-55FB-49DC-BFD7-FD484815838D}" srcOrd="0" destOrd="0" presId="urn:microsoft.com/office/officeart/2005/8/layout/default"/>
    <dgm:cxn modelId="{6370A3FE-F6FA-45F2-8CDE-4648505A8A1E}" type="presOf" srcId="{04E39E4C-068A-4C7E-B451-67B06FFC2426}" destId="{CC9DB5CF-616D-4CD7-BAB8-7A4F0E68EA98}" srcOrd="0" destOrd="0" presId="urn:microsoft.com/office/officeart/2005/8/layout/default"/>
    <dgm:cxn modelId="{AB55FA48-A384-49DE-8811-AD98EEE4C4DA}" type="presParOf" srcId="{77598F9F-813A-466C-8945-EB949D2470FD}" destId="{4C115CEF-0890-4A35-AE48-D45C8E32A9A0}" srcOrd="0" destOrd="0" presId="urn:microsoft.com/office/officeart/2005/8/layout/default"/>
    <dgm:cxn modelId="{F652AFCC-B96E-41E7-A344-ABB6DBED032A}" type="presParOf" srcId="{77598F9F-813A-466C-8945-EB949D2470FD}" destId="{1CCD12F9-01E7-4ED2-9D09-753B514DE6C5}" srcOrd="1" destOrd="0" presId="urn:microsoft.com/office/officeart/2005/8/layout/default"/>
    <dgm:cxn modelId="{98F67788-F209-4EF9-AA7D-4077D05101FB}" type="presParOf" srcId="{77598F9F-813A-466C-8945-EB949D2470FD}" destId="{CC9DB5CF-616D-4CD7-BAB8-7A4F0E68EA98}" srcOrd="2" destOrd="0" presId="urn:microsoft.com/office/officeart/2005/8/layout/default"/>
    <dgm:cxn modelId="{69A90D2C-1CB3-4D7E-82FD-73EF68588E10}" type="presParOf" srcId="{77598F9F-813A-466C-8945-EB949D2470FD}" destId="{70919C5A-902D-438A-A36B-36247C1C0ED5}" srcOrd="3" destOrd="0" presId="urn:microsoft.com/office/officeart/2005/8/layout/default"/>
    <dgm:cxn modelId="{6BA11717-ACD2-4FD2-A68F-564192366BC0}" type="presParOf" srcId="{77598F9F-813A-466C-8945-EB949D2470FD}" destId="{D246330D-8AA4-497B-B689-330DADE8327B}" srcOrd="4" destOrd="0" presId="urn:microsoft.com/office/officeart/2005/8/layout/default"/>
    <dgm:cxn modelId="{C8A2C34B-302B-443D-9562-C07B421CD076}" type="presParOf" srcId="{77598F9F-813A-466C-8945-EB949D2470FD}" destId="{64A29615-C9CF-4FC4-808F-A2D825345230}" srcOrd="5" destOrd="0" presId="urn:microsoft.com/office/officeart/2005/8/layout/default"/>
    <dgm:cxn modelId="{D6670C82-5FEC-44B2-9F48-3AC130CFAFED}" type="presParOf" srcId="{77598F9F-813A-466C-8945-EB949D2470FD}" destId="{844956B1-AC9B-4061-8FF9-29D97CF4811B}" srcOrd="6" destOrd="0" presId="urn:microsoft.com/office/officeart/2005/8/layout/default"/>
    <dgm:cxn modelId="{FF5A7FBD-87F1-474F-9A8C-94BD62763F2A}" type="presParOf" srcId="{77598F9F-813A-466C-8945-EB949D2470FD}" destId="{662C58D9-7DB2-46E3-B609-3C86AEE3D430}" srcOrd="7" destOrd="0" presId="urn:microsoft.com/office/officeart/2005/8/layout/default"/>
    <dgm:cxn modelId="{E834EEB7-E866-44B9-BC92-1360A0B7AFE1}" type="presParOf" srcId="{77598F9F-813A-466C-8945-EB949D2470FD}" destId="{DFC9F575-55FB-49DC-BFD7-FD484815838D}" srcOrd="8" destOrd="0" presId="urn:microsoft.com/office/officeart/2005/8/layout/default"/>
    <dgm:cxn modelId="{CFFF91B2-01D1-452E-B02F-36E797C4A835}" type="presParOf" srcId="{77598F9F-813A-466C-8945-EB949D2470FD}" destId="{3CC3E6EA-B430-4D77-B7CA-D8185447899C}" srcOrd="9" destOrd="0" presId="urn:microsoft.com/office/officeart/2005/8/layout/default"/>
    <dgm:cxn modelId="{A55E82DC-A45E-49A2-B871-4EB7B890676B}" type="presParOf" srcId="{77598F9F-813A-466C-8945-EB949D2470FD}" destId="{C3230D72-606D-465C-9278-09C3319D27ED}" srcOrd="10" destOrd="0" presId="urn:microsoft.com/office/officeart/2005/8/layout/default"/>
    <dgm:cxn modelId="{1F51523C-5D45-49B4-BDC7-5D8675D2B325}" type="presParOf" srcId="{77598F9F-813A-466C-8945-EB949D2470FD}" destId="{6C17DCC6-624F-4110-A345-E82E0B2917FD}" srcOrd="11" destOrd="0" presId="urn:microsoft.com/office/officeart/2005/8/layout/default"/>
    <dgm:cxn modelId="{631E0E31-8156-4F1F-BF1C-8AA54AAD3931}" type="presParOf" srcId="{77598F9F-813A-466C-8945-EB949D2470FD}" destId="{5E715853-E523-4364-A7C5-25294D60ECCC}" srcOrd="12" destOrd="0" presId="urn:microsoft.com/office/officeart/2005/8/layout/default"/>
    <dgm:cxn modelId="{F9357B07-DFDD-43ED-A26D-3DB0FAE71E1C}" type="presParOf" srcId="{77598F9F-813A-466C-8945-EB949D2470FD}" destId="{6FFFE4A0-392C-4C52-9230-78D6BFD5B560}" srcOrd="13" destOrd="0" presId="urn:microsoft.com/office/officeart/2005/8/layout/default"/>
    <dgm:cxn modelId="{BD409468-B311-4560-A53F-108A81CE8D2A}" type="presParOf" srcId="{77598F9F-813A-466C-8945-EB949D2470FD}" destId="{364B1A94-F625-46A6-9859-B60E74D5C69E}"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15CEF-0890-4A35-AE48-D45C8E32A9A0}">
      <dsp:nvSpPr>
        <dsp:cNvPr id="0" name=""/>
        <dsp:cNvSpPr/>
      </dsp:nvSpPr>
      <dsp:spPr>
        <a:xfrm>
          <a:off x="0" y="459412"/>
          <a:ext cx="1833041" cy="1099824"/>
        </a:xfrm>
        <a:prstGeom prst="rect">
          <a:avLst/>
        </a:prstGeom>
        <a:gradFill rotWithShape="0">
          <a:gsLst>
            <a:gs pos="0">
              <a:schemeClr val="accent1">
                <a:alpha val="90000"/>
                <a:hueOff val="0"/>
                <a:satOff val="0"/>
                <a:lumOff val="0"/>
                <a:alphaOff val="0"/>
                <a:tint val="100000"/>
                <a:shade val="100000"/>
                <a:satMod val="130000"/>
              </a:schemeClr>
            </a:gs>
            <a:gs pos="100000">
              <a:schemeClr val="accent1">
                <a:alpha val="9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solidFill>
                <a:schemeClr val="tx1"/>
              </a:solidFill>
            </a:rPr>
            <a:t>1. Data Collection</a:t>
          </a:r>
          <a:r>
            <a:rPr lang="en-US" sz="1000" kern="1200">
              <a:solidFill>
                <a:schemeClr val="tx1"/>
              </a:solidFill>
            </a:rPr>
            <a:t> – Gather CRISPR screen data, epigenomic profiles, and transcription factor (TF) binding datasets across multiple cell lines.</a:t>
          </a:r>
          <a:br>
            <a:rPr lang="en-US" sz="1000" kern="1200">
              <a:solidFill>
                <a:schemeClr val="tx1"/>
              </a:solidFill>
            </a:rPr>
          </a:br>
          <a:endParaRPr lang="en-US" sz="1000" kern="1200">
            <a:solidFill>
              <a:schemeClr val="tx1"/>
            </a:solidFill>
          </a:endParaRPr>
        </a:p>
      </dsp:txBody>
      <dsp:txXfrm>
        <a:off x="0" y="459412"/>
        <a:ext cx="1833041" cy="1099824"/>
      </dsp:txXfrm>
    </dsp:sp>
    <dsp:sp modelId="{CC9DB5CF-616D-4CD7-BAB8-7A4F0E68EA98}">
      <dsp:nvSpPr>
        <dsp:cNvPr id="0" name=""/>
        <dsp:cNvSpPr/>
      </dsp:nvSpPr>
      <dsp:spPr>
        <a:xfrm>
          <a:off x="1915877" y="440726"/>
          <a:ext cx="1833041" cy="1099824"/>
        </a:xfrm>
        <a:prstGeom prst="rect">
          <a:avLst/>
        </a:prstGeom>
        <a:gradFill rotWithShape="0">
          <a:gsLst>
            <a:gs pos="0">
              <a:schemeClr val="accent1">
                <a:alpha val="90000"/>
                <a:hueOff val="0"/>
                <a:satOff val="0"/>
                <a:lumOff val="0"/>
                <a:alphaOff val="-5714"/>
                <a:tint val="100000"/>
                <a:shade val="100000"/>
                <a:satMod val="130000"/>
              </a:schemeClr>
            </a:gs>
            <a:gs pos="100000">
              <a:schemeClr val="accent1">
                <a:alpha val="90000"/>
                <a:hueOff val="0"/>
                <a:satOff val="0"/>
                <a:lumOff val="0"/>
                <a:alphaOff val="-5714"/>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a:solidFill>
                <a:schemeClr val="tx1"/>
              </a:solidFill>
            </a:rPr>
            <a:t>2. Data Preprocessing</a:t>
          </a:r>
          <a:r>
            <a:rPr lang="en-US" sz="1000" kern="1200">
              <a:solidFill>
                <a:schemeClr val="tx1"/>
              </a:solidFill>
            </a:rPr>
            <a:t> – Clean and normalize raw data, handle missing values, and ensure consistency across different datasets.</a:t>
          </a:r>
          <a:br>
            <a:rPr lang="en-US" sz="1000" kern="1200">
              <a:solidFill>
                <a:schemeClr val="tx1"/>
              </a:solidFill>
            </a:rPr>
          </a:br>
          <a:endParaRPr lang="en-US" sz="1000" kern="1200">
            <a:solidFill>
              <a:srgbClr val="010000"/>
            </a:solidFill>
            <a:latin typeface="Arial"/>
          </a:endParaRPr>
        </a:p>
      </dsp:txBody>
      <dsp:txXfrm>
        <a:off x="1915877" y="440726"/>
        <a:ext cx="1833041" cy="1099824"/>
      </dsp:txXfrm>
    </dsp:sp>
    <dsp:sp modelId="{D246330D-8AA4-497B-B689-330DADE8327B}">
      <dsp:nvSpPr>
        <dsp:cNvPr id="0" name=""/>
        <dsp:cNvSpPr/>
      </dsp:nvSpPr>
      <dsp:spPr>
        <a:xfrm>
          <a:off x="4035002" y="440726"/>
          <a:ext cx="1833041" cy="1099824"/>
        </a:xfrm>
        <a:prstGeom prst="rect">
          <a:avLst/>
        </a:prstGeom>
        <a:gradFill rotWithShape="0">
          <a:gsLst>
            <a:gs pos="0">
              <a:schemeClr val="accent1">
                <a:alpha val="90000"/>
                <a:hueOff val="0"/>
                <a:satOff val="0"/>
                <a:lumOff val="0"/>
                <a:alphaOff val="-11429"/>
                <a:tint val="100000"/>
                <a:shade val="100000"/>
                <a:satMod val="130000"/>
              </a:schemeClr>
            </a:gs>
            <a:gs pos="100000">
              <a:schemeClr val="accent1">
                <a:alpha val="90000"/>
                <a:hueOff val="0"/>
                <a:satOff val="0"/>
                <a:lumOff val="0"/>
                <a:alphaOff val="-11429"/>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a:solidFill>
                <a:srgbClr val="010000"/>
              </a:solidFill>
              <a:latin typeface="Arial"/>
            </a:rPr>
            <a:t>3. Exploratory Data Analysis (EDA)</a:t>
          </a:r>
          <a:r>
            <a:rPr lang="en-US" sz="1000" kern="1200">
              <a:solidFill>
                <a:srgbClr val="010000"/>
              </a:solidFill>
              <a:latin typeface="Arial"/>
            </a:rPr>
            <a:t> – Identify patterns, correlations, and distributions within the data across Z_scores to gain initial insights.</a:t>
          </a:r>
        </a:p>
      </dsp:txBody>
      <dsp:txXfrm>
        <a:off x="4035002" y="440726"/>
        <a:ext cx="1833041" cy="1099824"/>
      </dsp:txXfrm>
    </dsp:sp>
    <dsp:sp modelId="{844956B1-AC9B-4061-8FF9-29D97CF4811B}">
      <dsp:nvSpPr>
        <dsp:cNvPr id="0" name=""/>
        <dsp:cNvSpPr/>
      </dsp:nvSpPr>
      <dsp:spPr>
        <a:xfrm>
          <a:off x="6051347" y="440726"/>
          <a:ext cx="1833041" cy="1099824"/>
        </a:xfrm>
        <a:prstGeom prst="rect">
          <a:avLst/>
        </a:prstGeom>
        <a:gradFill rotWithShape="0">
          <a:gsLst>
            <a:gs pos="0">
              <a:schemeClr val="accent1">
                <a:alpha val="90000"/>
                <a:hueOff val="0"/>
                <a:satOff val="0"/>
                <a:lumOff val="0"/>
                <a:alphaOff val="-17143"/>
                <a:tint val="100000"/>
                <a:shade val="100000"/>
                <a:satMod val="130000"/>
              </a:schemeClr>
            </a:gs>
            <a:gs pos="100000">
              <a:schemeClr val="accent1">
                <a:alpha val="90000"/>
                <a:hueOff val="0"/>
                <a:satOff val="0"/>
                <a:lumOff val="0"/>
                <a:alphaOff val="-17143"/>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a:solidFill>
                <a:schemeClr val="tx1"/>
              </a:solidFill>
              <a:latin typeface="Arial"/>
            </a:rPr>
            <a:t>4</a:t>
          </a:r>
          <a:r>
            <a:rPr lang="en-US" sz="1000" kern="1200">
              <a:solidFill>
                <a:srgbClr val="010000"/>
              </a:solidFill>
              <a:latin typeface="Arial"/>
            </a:rPr>
            <a:t>.</a:t>
          </a:r>
          <a:r>
            <a:rPr lang="en-US" sz="1000" b="1" kern="1200">
              <a:solidFill>
                <a:srgbClr val="010000"/>
              </a:solidFill>
              <a:latin typeface="Arial"/>
            </a:rPr>
            <a:t> </a:t>
          </a:r>
          <a:r>
            <a:rPr lang="en-US" sz="1000" b="1" kern="1200">
              <a:solidFill>
                <a:schemeClr val="tx1"/>
              </a:solidFill>
              <a:latin typeface="Arial"/>
            </a:rPr>
            <a:t>Embedding Generation</a:t>
          </a:r>
          <a:r>
            <a:rPr lang="en-US" sz="1000" b="1" kern="1200">
              <a:solidFill>
                <a:srgbClr val="010000"/>
              </a:solidFill>
              <a:latin typeface="Arial"/>
            </a:rPr>
            <a:t> </a:t>
          </a:r>
          <a:r>
            <a:rPr lang="en-US" sz="1000" b="1" kern="1200">
              <a:solidFill>
                <a:schemeClr val="tx1"/>
              </a:solidFill>
              <a:latin typeface="Arial"/>
            </a:rPr>
            <a:t>–</a:t>
          </a:r>
          <a:r>
            <a:rPr lang="en-US" sz="1000" kern="1200">
              <a:solidFill>
                <a:schemeClr val="tx1"/>
              </a:solidFill>
              <a:latin typeface="Arial"/>
            </a:rPr>
            <a:t> </a:t>
          </a:r>
          <a:r>
            <a:rPr lang="en-US" sz="1000" kern="1200" err="1">
              <a:solidFill>
                <a:schemeClr val="tx1"/>
              </a:solidFill>
              <a:latin typeface="Arial"/>
            </a:rPr>
            <a:t>Biobart</a:t>
          </a:r>
          <a:r>
            <a:rPr lang="en-US" sz="1000" kern="1200">
              <a:solidFill>
                <a:srgbClr val="010000"/>
              </a:solidFill>
              <a:latin typeface="Arial"/>
            </a:rPr>
            <a:t> </a:t>
          </a:r>
          <a:r>
            <a:rPr lang="en-US" sz="1000" kern="1200">
              <a:solidFill>
                <a:schemeClr val="tx1"/>
              </a:solidFill>
              <a:latin typeface="Arial"/>
            </a:rPr>
            <a:t>was</a:t>
          </a:r>
          <a:r>
            <a:rPr lang="en-US" sz="1000" kern="1200">
              <a:solidFill>
                <a:srgbClr val="010000"/>
              </a:solidFill>
              <a:latin typeface="Arial"/>
            </a:rPr>
            <a:t> </a:t>
          </a:r>
          <a:r>
            <a:rPr lang="en-US" sz="1000" kern="1200">
              <a:solidFill>
                <a:schemeClr val="tx1"/>
              </a:solidFill>
              <a:latin typeface="Arial"/>
            </a:rPr>
            <a:t>used </a:t>
          </a:r>
          <a:r>
            <a:rPr lang="en-US" sz="1000" kern="1200">
              <a:solidFill>
                <a:srgbClr val="010000"/>
              </a:solidFill>
              <a:latin typeface="Arial"/>
            </a:rPr>
            <a:t>to </a:t>
          </a:r>
          <a:r>
            <a:rPr lang="en-US" sz="1000" kern="1200">
              <a:solidFill>
                <a:schemeClr val="tx1"/>
              </a:solidFill>
              <a:latin typeface="Arial"/>
            </a:rPr>
            <a:t>generate embeddings</a:t>
          </a:r>
          <a:r>
            <a:rPr lang="en-US" sz="1000" kern="1200">
              <a:solidFill>
                <a:srgbClr val="010000"/>
              </a:solidFill>
              <a:latin typeface="Arial"/>
            </a:rPr>
            <a:t> </a:t>
          </a:r>
          <a:r>
            <a:rPr lang="en-US" sz="1000" kern="1200">
              <a:solidFill>
                <a:schemeClr val="tx1"/>
              </a:solidFill>
              <a:latin typeface="Arial"/>
            </a:rPr>
            <a:t>corresponding to hg19</a:t>
          </a:r>
          <a:r>
            <a:rPr lang="en-US" sz="1000" kern="1200">
              <a:solidFill>
                <a:srgbClr val="010000"/>
              </a:solidFill>
              <a:latin typeface="Arial"/>
            </a:rPr>
            <a:t> </a:t>
          </a:r>
          <a:r>
            <a:rPr lang="en-US" sz="1000" kern="1200">
              <a:solidFill>
                <a:schemeClr val="tx1"/>
              </a:solidFill>
              <a:latin typeface="Arial"/>
            </a:rPr>
            <a:t>sequences</a:t>
          </a:r>
          <a:r>
            <a:rPr lang="en-US" sz="1000" kern="1200">
              <a:solidFill>
                <a:srgbClr val="010000"/>
              </a:solidFill>
              <a:latin typeface="Arial"/>
            </a:rPr>
            <a:t>. </a:t>
          </a:r>
          <a:br>
            <a:rPr lang="en-US" sz="1000" kern="1200">
              <a:solidFill>
                <a:schemeClr val="tx1"/>
              </a:solidFill>
            </a:rPr>
          </a:br>
          <a:endParaRPr lang="en-US" sz="1000" kern="1200"/>
        </a:p>
      </dsp:txBody>
      <dsp:txXfrm>
        <a:off x="6051347" y="440726"/>
        <a:ext cx="1833041" cy="1099824"/>
      </dsp:txXfrm>
    </dsp:sp>
    <dsp:sp modelId="{DFC9F575-55FB-49DC-BFD7-FD484815838D}">
      <dsp:nvSpPr>
        <dsp:cNvPr id="0" name=""/>
        <dsp:cNvSpPr/>
      </dsp:nvSpPr>
      <dsp:spPr>
        <a:xfrm>
          <a:off x="0" y="1761228"/>
          <a:ext cx="1833041" cy="1099824"/>
        </a:xfrm>
        <a:prstGeom prst="rect">
          <a:avLst/>
        </a:prstGeom>
        <a:gradFill rotWithShape="0">
          <a:gsLst>
            <a:gs pos="0">
              <a:schemeClr val="accent1">
                <a:alpha val="90000"/>
                <a:hueOff val="0"/>
                <a:satOff val="0"/>
                <a:lumOff val="0"/>
                <a:alphaOff val="-22857"/>
                <a:tint val="100000"/>
                <a:shade val="100000"/>
                <a:satMod val="130000"/>
              </a:schemeClr>
            </a:gs>
            <a:gs pos="100000">
              <a:schemeClr val="accent1">
                <a:alpha val="90000"/>
                <a:hueOff val="0"/>
                <a:satOff val="0"/>
                <a:lumOff val="0"/>
                <a:alphaOff val="-22857"/>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solidFill>
                <a:schemeClr val="tx1"/>
              </a:solidFill>
            </a:rPr>
            <a:t>5. Lazy Predict Regressor</a:t>
          </a:r>
          <a:r>
            <a:rPr lang="en-US" sz="1000" kern="1200">
              <a:solidFill>
                <a:schemeClr val="tx1"/>
              </a:solidFill>
            </a:rPr>
            <a:t> – </a:t>
          </a:r>
          <a:r>
            <a:rPr lang="en-US" sz="1000" kern="1200">
              <a:solidFill>
                <a:schemeClr val="tx1"/>
              </a:solidFill>
              <a:latin typeface="Arial"/>
            </a:rPr>
            <a:t>Used</a:t>
          </a:r>
          <a:r>
            <a:rPr lang="en-US" sz="1000" kern="1200">
              <a:solidFill>
                <a:schemeClr val="tx1"/>
              </a:solidFill>
            </a:rPr>
            <a:t> an automated model benchmarking tool to quickly test </a:t>
          </a:r>
          <a:r>
            <a:rPr lang="en-US" sz="1000" kern="1200">
              <a:solidFill>
                <a:schemeClr val="tx1"/>
              </a:solidFill>
              <a:latin typeface="Arial"/>
            </a:rPr>
            <a:t>multiple</a:t>
          </a:r>
          <a:r>
            <a:rPr lang="en-US" sz="1000" kern="1200">
              <a:solidFill>
                <a:schemeClr val="tx1"/>
              </a:solidFill>
            </a:rPr>
            <a:t> regression models for baseline comparisons.</a:t>
          </a:r>
          <a:br>
            <a:rPr lang="en-US" sz="1000" kern="1200">
              <a:solidFill>
                <a:schemeClr val="tx1"/>
              </a:solidFill>
            </a:rPr>
          </a:br>
          <a:endParaRPr lang="en-US" sz="1000" kern="1200">
            <a:solidFill>
              <a:schemeClr val="tx1"/>
            </a:solidFill>
          </a:endParaRPr>
        </a:p>
      </dsp:txBody>
      <dsp:txXfrm>
        <a:off x="0" y="1761228"/>
        <a:ext cx="1833041" cy="1099824"/>
      </dsp:txXfrm>
    </dsp:sp>
    <dsp:sp modelId="{C3230D72-606D-465C-9278-09C3319D27ED}">
      <dsp:nvSpPr>
        <dsp:cNvPr id="0" name=""/>
        <dsp:cNvSpPr/>
      </dsp:nvSpPr>
      <dsp:spPr>
        <a:xfrm>
          <a:off x="1951841" y="1741992"/>
          <a:ext cx="1706121" cy="1099824"/>
        </a:xfrm>
        <a:prstGeom prst="rect">
          <a:avLst/>
        </a:prstGeom>
        <a:gradFill rotWithShape="0">
          <a:gsLst>
            <a:gs pos="0">
              <a:schemeClr val="accent1">
                <a:alpha val="90000"/>
                <a:hueOff val="0"/>
                <a:satOff val="0"/>
                <a:lumOff val="0"/>
                <a:alphaOff val="-28571"/>
                <a:tint val="100000"/>
                <a:shade val="100000"/>
                <a:satMod val="130000"/>
              </a:schemeClr>
            </a:gs>
            <a:gs pos="100000">
              <a:schemeClr val="accent1">
                <a:alpha val="90000"/>
                <a:hueOff val="0"/>
                <a:satOff val="0"/>
                <a:lumOff val="0"/>
                <a:alphaOff val="-28571"/>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solidFill>
                <a:schemeClr val="tx1"/>
              </a:solidFill>
            </a:rPr>
            <a:t>6. Model Optimization</a:t>
          </a:r>
          <a:r>
            <a:rPr lang="en-US" sz="1000" kern="1200">
              <a:solidFill>
                <a:schemeClr val="tx1"/>
              </a:solidFill>
            </a:rPr>
            <a:t> – Fine-tune hyperparameters and select the best-performing machine learning model for predicting CRISPR Z-scores.</a:t>
          </a:r>
          <a:br>
            <a:rPr lang="en-US" sz="1000" kern="1200">
              <a:solidFill>
                <a:schemeClr val="tx1"/>
              </a:solidFill>
            </a:rPr>
          </a:br>
          <a:endParaRPr lang="en-US" sz="1000" kern="1200">
            <a:solidFill>
              <a:schemeClr val="tx1"/>
            </a:solidFill>
          </a:endParaRPr>
        </a:p>
      </dsp:txBody>
      <dsp:txXfrm>
        <a:off x="1951841" y="1741992"/>
        <a:ext cx="1706121" cy="1099824"/>
      </dsp:txXfrm>
    </dsp:sp>
    <dsp:sp modelId="{5E715853-E523-4364-A7C5-25294D60ECCC}">
      <dsp:nvSpPr>
        <dsp:cNvPr id="0" name=""/>
        <dsp:cNvSpPr/>
      </dsp:nvSpPr>
      <dsp:spPr>
        <a:xfrm>
          <a:off x="4019732" y="1768398"/>
          <a:ext cx="1833041" cy="1099824"/>
        </a:xfrm>
        <a:prstGeom prst="rect">
          <a:avLst/>
        </a:prstGeom>
        <a:gradFill rotWithShape="0">
          <a:gsLst>
            <a:gs pos="0">
              <a:schemeClr val="accent1">
                <a:alpha val="90000"/>
                <a:hueOff val="0"/>
                <a:satOff val="0"/>
                <a:lumOff val="0"/>
                <a:alphaOff val="-34286"/>
                <a:tint val="100000"/>
                <a:shade val="100000"/>
                <a:satMod val="130000"/>
              </a:schemeClr>
            </a:gs>
            <a:gs pos="100000">
              <a:schemeClr val="accent1">
                <a:alpha val="90000"/>
                <a:hueOff val="0"/>
                <a:satOff val="0"/>
                <a:lumOff val="0"/>
                <a:alphaOff val="-34286"/>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a:solidFill>
                <a:schemeClr val="tx1"/>
              </a:solidFill>
            </a:rPr>
            <a:t>7. Feature Importance Evaluation</a:t>
          </a:r>
          <a:r>
            <a:rPr lang="en-US" sz="1000" kern="1200">
              <a:solidFill>
                <a:schemeClr val="tx1"/>
              </a:solidFill>
            </a:rPr>
            <a:t> – Determine which</a:t>
          </a:r>
          <a:r>
            <a:rPr lang="en-US" sz="1000" kern="1200">
              <a:solidFill>
                <a:schemeClr val="tx1"/>
              </a:solidFill>
              <a:latin typeface="Arial"/>
            </a:rPr>
            <a:t> mutations</a:t>
          </a:r>
          <a:r>
            <a:rPr lang="en-US" sz="1000" kern="1200">
              <a:solidFill>
                <a:schemeClr val="tx1"/>
              </a:solidFill>
            </a:rPr>
            <a:t> </a:t>
          </a:r>
          <a:r>
            <a:rPr lang="en-US" sz="1000" kern="1200">
              <a:solidFill>
                <a:schemeClr val="tx1"/>
              </a:solidFill>
              <a:latin typeface="Arial"/>
            </a:rPr>
            <a:t>and sequence based </a:t>
          </a:r>
          <a:r>
            <a:rPr lang="en-US" sz="1000" kern="1200">
              <a:solidFill>
                <a:schemeClr val="tx1"/>
              </a:solidFill>
            </a:rPr>
            <a:t>features contribute most to enhancer activity and gene regulation.</a:t>
          </a:r>
          <a:br>
            <a:rPr lang="en-US" sz="1000" kern="1200">
              <a:solidFill>
                <a:schemeClr val="tx1"/>
              </a:solidFill>
            </a:rPr>
          </a:br>
          <a:endParaRPr lang="en-US" sz="1000" kern="1200">
            <a:solidFill>
              <a:schemeClr val="tx1"/>
            </a:solidFill>
          </a:endParaRPr>
        </a:p>
      </dsp:txBody>
      <dsp:txXfrm>
        <a:off x="4019732" y="1768398"/>
        <a:ext cx="1833041" cy="1099824"/>
      </dsp:txXfrm>
    </dsp:sp>
    <dsp:sp modelId="{364B1A94-F625-46A6-9859-B60E74D5C69E}">
      <dsp:nvSpPr>
        <dsp:cNvPr id="0" name=""/>
        <dsp:cNvSpPr/>
      </dsp:nvSpPr>
      <dsp:spPr>
        <a:xfrm>
          <a:off x="6069605" y="1743476"/>
          <a:ext cx="1817094" cy="1099824"/>
        </a:xfrm>
        <a:prstGeom prst="rect">
          <a:avLst/>
        </a:prstGeom>
        <a:gradFill rotWithShape="0">
          <a:gsLst>
            <a:gs pos="0">
              <a:schemeClr val="accent1">
                <a:alpha val="90000"/>
                <a:hueOff val="0"/>
                <a:satOff val="0"/>
                <a:lumOff val="0"/>
                <a:alphaOff val="-40000"/>
                <a:tint val="100000"/>
                <a:shade val="100000"/>
                <a:satMod val="130000"/>
              </a:schemeClr>
            </a:gs>
            <a:gs pos="100000">
              <a:schemeClr val="accent1">
                <a:alpha val="90000"/>
                <a:hueOff val="0"/>
                <a:satOff val="0"/>
                <a:lumOff val="0"/>
                <a:alphaOff val="-4000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a:solidFill>
                <a:schemeClr val="tx1"/>
              </a:solidFill>
            </a:rPr>
            <a:t>8. Model Evaluation &amp; Validation</a:t>
          </a:r>
          <a:r>
            <a:rPr lang="en-US" sz="1000" kern="1200">
              <a:solidFill>
                <a:schemeClr val="tx1"/>
              </a:solidFill>
            </a:rPr>
            <a:t> – Assess model performance using evaluation metrics like R² and RMSE to ensure reliability.</a:t>
          </a:r>
          <a:br>
            <a:rPr lang="en-US" sz="1000" kern="1200">
              <a:solidFill>
                <a:schemeClr val="tx1"/>
              </a:solidFill>
            </a:rPr>
          </a:br>
          <a:endParaRPr lang="en-US" sz="1000" kern="1200">
            <a:solidFill>
              <a:schemeClr val="tx1"/>
            </a:solidFill>
          </a:endParaRPr>
        </a:p>
      </dsp:txBody>
      <dsp:txXfrm>
        <a:off x="6069605" y="1743476"/>
        <a:ext cx="1817094" cy="109982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3b2428a5c1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3b2428a5c1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3b2428a5c1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3b2428a5c1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3b2428a5c1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3b2428a5c1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EADA7"/>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143000" y="797753"/>
            <a:ext cx="7315200" cy="1406400"/>
          </a:xfrm>
          <a:prstGeom prst="rect">
            <a:avLst/>
          </a:prstGeom>
          <a:noFill/>
          <a:ln>
            <a:noFill/>
          </a:ln>
        </p:spPr>
        <p:txBody>
          <a:bodyPr spcFirstLastPara="1" wrap="square" lIns="68575" tIns="34275" rIns="68575" bIns="34275" anchor="b" anchorCtr="0">
            <a:normAutofit/>
          </a:bodyPr>
          <a:lstStyle>
            <a:lvl1pPr lvl="0" algn="r">
              <a:lnSpc>
                <a:spcPct val="90000"/>
              </a:lnSpc>
              <a:spcBef>
                <a:spcPts val="0"/>
              </a:spcBef>
              <a:spcAft>
                <a:spcPts val="0"/>
              </a:spcAft>
              <a:buClr>
                <a:schemeClr val="lt1"/>
              </a:buClr>
              <a:buSzPts val="4100"/>
              <a:buFont typeface="Quattrocento Sans"/>
              <a:buNone/>
              <a:defRPr sz="4100" b="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2"/>
          <p:cNvSpPr txBox="1">
            <a:spLocks noGrp="1"/>
          </p:cNvSpPr>
          <p:nvPr>
            <p:ph type="subTitle" idx="1"/>
          </p:nvPr>
        </p:nvSpPr>
        <p:spPr>
          <a:xfrm>
            <a:off x="4114800" y="2430434"/>
            <a:ext cx="4343400" cy="1532100"/>
          </a:xfrm>
          <a:prstGeom prst="rect">
            <a:avLst/>
          </a:prstGeom>
          <a:noFill/>
          <a:ln>
            <a:noFill/>
          </a:ln>
        </p:spPr>
        <p:txBody>
          <a:bodyPr spcFirstLastPara="1" wrap="square" lIns="68575" tIns="34275" rIns="68575" bIns="34275" anchor="t" anchorCtr="0">
            <a:normAutofit/>
          </a:bodyPr>
          <a:lstStyle>
            <a:lvl1pPr lvl="0" algn="r">
              <a:lnSpc>
                <a:spcPct val="90000"/>
              </a:lnSpc>
              <a:spcBef>
                <a:spcPts val="800"/>
              </a:spcBef>
              <a:spcAft>
                <a:spcPts val="0"/>
              </a:spcAft>
              <a:buClr>
                <a:srgbClr val="E9F7F6"/>
              </a:buClr>
              <a:buSzPts val="1800"/>
              <a:buNone/>
              <a:defRPr sz="1800">
                <a:solidFill>
                  <a:srgbClr val="E9F7F6"/>
                </a:solidFill>
              </a:defRPr>
            </a:lvl1pPr>
            <a:lvl2pPr lvl="1" algn="ctr">
              <a:lnSpc>
                <a:spcPct val="90000"/>
              </a:lnSpc>
              <a:spcBef>
                <a:spcPts val="400"/>
              </a:spcBef>
              <a:spcAft>
                <a:spcPts val="0"/>
              </a:spcAft>
              <a:buClr>
                <a:schemeClr val="dk1"/>
              </a:buClr>
              <a:buSzPts val="2100"/>
              <a:buNone/>
              <a:defRPr sz="2100"/>
            </a:lvl2pPr>
            <a:lvl3pPr lvl="2" algn="ctr">
              <a:lnSpc>
                <a:spcPct val="90000"/>
              </a:lnSpc>
              <a:spcBef>
                <a:spcPts val="400"/>
              </a:spcBef>
              <a:spcAft>
                <a:spcPts val="0"/>
              </a:spcAft>
              <a:buClr>
                <a:schemeClr val="dk1"/>
              </a:buClr>
              <a:buSzPts val="1800"/>
              <a:buNone/>
              <a:defRPr sz="1800"/>
            </a:lvl3pPr>
            <a:lvl4pPr lvl="3" algn="ctr">
              <a:lnSpc>
                <a:spcPct val="90000"/>
              </a:lnSpc>
              <a:spcBef>
                <a:spcPts val="400"/>
              </a:spcBef>
              <a:spcAft>
                <a:spcPts val="0"/>
              </a:spcAft>
              <a:buClr>
                <a:schemeClr val="dk1"/>
              </a:buClr>
              <a:buSzPts val="1500"/>
              <a:buNone/>
              <a:defRPr sz="1500"/>
            </a:lvl4pPr>
            <a:lvl5pPr lvl="4" algn="ctr">
              <a:lnSpc>
                <a:spcPct val="90000"/>
              </a:lnSpc>
              <a:spcBef>
                <a:spcPts val="400"/>
              </a:spcBef>
              <a:spcAft>
                <a:spcPts val="0"/>
              </a:spcAft>
              <a:buClr>
                <a:schemeClr val="dk1"/>
              </a:buClr>
              <a:buSzPts val="1500"/>
              <a:buNone/>
              <a:defRPr sz="1500"/>
            </a:lvl5pPr>
            <a:lvl6pPr lvl="5" algn="ctr">
              <a:lnSpc>
                <a:spcPct val="100000"/>
              </a:lnSpc>
              <a:spcBef>
                <a:spcPts val="300"/>
              </a:spcBef>
              <a:spcAft>
                <a:spcPts val="0"/>
              </a:spcAft>
              <a:buClr>
                <a:schemeClr val="dk1"/>
              </a:buClr>
              <a:buSzPts val="1500"/>
              <a:buNone/>
              <a:defRPr sz="1500"/>
            </a:lvl6pPr>
            <a:lvl7pPr lvl="6" algn="ctr">
              <a:lnSpc>
                <a:spcPct val="100000"/>
              </a:lnSpc>
              <a:spcBef>
                <a:spcPts val="300"/>
              </a:spcBef>
              <a:spcAft>
                <a:spcPts val="0"/>
              </a:spcAft>
              <a:buClr>
                <a:schemeClr val="dk1"/>
              </a:buClr>
              <a:buSzPts val="1500"/>
              <a:buNone/>
              <a:defRPr sz="1500"/>
            </a:lvl7pPr>
            <a:lvl8pPr lvl="7" algn="ctr">
              <a:lnSpc>
                <a:spcPct val="100000"/>
              </a:lnSpc>
              <a:spcBef>
                <a:spcPts val="300"/>
              </a:spcBef>
              <a:spcAft>
                <a:spcPts val="0"/>
              </a:spcAft>
              <a:buClr>
                <a:schemeClr val="dk1"/>
              </a:buClr>
              <a:buSzPts val="1500"/>
              <a:buNone/>
              <a:defRPr sz="1500"/>
            </a:lvl8pPr>
            <a:lvl9pPr lvl="8" algn="ctr">
              <a:lnSpc>
                <a:spcPct val="100000"/>
              </a:lnSpc>
              <a:spcBef>
                <a:spcPts val="300"/>
              </a:spcBef>
              <a:spcAft>
                <a:spcPts val="0"/>
              </a:spcAft>
              <a:buClr>
                <a:schemeClr val="dk1"/>
              </a:buClr>
              <a:buSzPts val="1500"/>
              <a:buNone/>
              <a:defRPr sz="1500"/>
            </a:lvl9pPr>
          </a:lstStyle>
          <a:p>
            <a:endParaRPr/>
          </a:p>
        </p:txBody>
      </p:sp>
      <p:sp>
        <p:nvSpPr>
          <p:cNvPr id="14" name="Google Shape;14;p2"/>
          <p:cNvSpPr txBox="1">
            <a:spLocks noGrp="1"/>
          </p:cNvSpPr>
          <p:nvPr>
            <p:ph type="dt" idx="10"/>
          </p:nvPr>
        </p:nvSpPr>
        <p:spPr>
          <a:xfrm>
            <a:off x="411480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2"/>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2"/>
          <p:cNvCxnSpPr/>
          <p:nvPr/>
        </p:nvCxnSpPr>
        <p:spPr>
          <a:xfrm>
            <a:off x="685800" y="2317221"/>
            <a:ext cx="7772400" cy="0"/>
          </a:xfrm>
          <a:prstGeom prst="straightConnector1">
            <a:avLst/>
          </a:prstGeom>
          <a:noFill/>
          <a:ln w="9525" cap="flat" cmpd="sng">
            <a:solidFill>
              <a:schemeClr val="lt1"/>
            </a:solidFill>
            <a:prstDash val="solid"/>
            <a:round/>
            <a:headEnd type="none" w="sm" len="sm"/>
            <a:tailEnd type="none" w="sm" len="sm"/>
          </a:ln>
        </p:spPr>
      </p:cxnSp>
      <p:pic>
        <p:nvPicPr>
          <p:cNvPr id="17" name="Google Shape;17;p2"/>
          <p:cNvPicPr preferRelativeResize="0"/>
          <p:nvPr/>
        </p:nvPicPr>
        <p:blipFill rotWithShape="1">
          <a:blip r:embed="rId2">
            <a:alphaModFix/>
          </a:blip>
          <a:srcRect/>
          <a:stretch/>
        </p:blipFill>
        <p:spPr>
          <a:xfrm>
            <a:off x="685800" y="3406047"/>
            <a:ext cx="2251613" cy="12391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3"/>
          <p:cNvSpPr txBox="1">
            <a:spLocks noGrp="1"/>
          </p:cNvSpPr>
          <p:nvPr>
            <p:ph type="body" idx="1"/>
          </p:nvPr>
        </p:nvSpPr>
        <p:spPr>
          <a:xfrm>
            <a:off x="633845" y="1035886"/>
            <a:ext cx="78867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21" name="Google Shape;21;p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3"/>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4" name="Google Shape;24;p3"/>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25" name="Google Shape;25;p3"/>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623888" y="1284317"/>
            <a:ext cx="7886700" cy="21384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4500"/>
              <a:buFont typeface="Quattrocento Sans"/>
              <a:buNone/>
              <a:defRPr sz="4500"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 name="Google Shape;32;p5"/>
          <p:cNvSpPr txBox="1">
            <a:spLocks noGrp="1"/>
          </p:cNvSpPr>
          <p:nvPr>
            <p:ph type="body" idx="1"/>
          </p:nvPr>
        </p:nvSpPr>
        <p:spPr>
          <a:xfrm>
            <a:off x="623888" y="3414475"/>
            <a:ext cx="7886700" cy="1125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3F3F3F"/>
              </a:buClr>
              <a:buSzPts val="1800"/>
              <a:buNone/>
              <a:defRPr sz="1800">
                <a:solidFill>
                  <a:srgbClr val="3F3F3F"/>
                </a:solidFill>
              </a:defRPr>
            </a:lvl1pPr>
            <a:lvl2pPr marL="914400" lvl="1" indent="-228600" algn="l">
              <a:lnSpc>
                <a:spcPct val="90000"/>
              </a:lnSpc>
              <a:spcBef>
                <a:spcPts val="400"/>
              </a:spcBef>
              <a:spcAft>
                <a:spcPts val="0"/>
              </a:spcAft>
              <a:buClr>
                <a:srgbClr val="888888"/>
              </a:buClr>
              <a:buSzPts val="1400"/>
              <a:buNone/>
              <a:defRPr sz="1400">
                <a:solidFill>
                  <a:srgbClr val="888888"/>
                </a:solidFill>
              </a:defRPr>
            </a:lvl2pPr>
            <a:lvl3pPr marL="1371600" lvl="2" indent="-228600" algn="l">
              <a:lnSpc>
                <a:spcPct val="90000"/>
              </a:lnSpc>
              <a:spcBef>
                <a:spcPts val="400"/>
              </a:spcBef>
              <a:spcAft>
                <a:spcPts val="0"/>
              </a:spcAft>
              <a:buClr>
                <a:srgbClr val="888888"/>
              </a:buClr>
              <a:buSzPts val="1200"/>
              <a:buNone/>
              <a:defRPr sz="1200">
                <a:solidFill>
                  <a:srgbClr val="888888"/>
                </a:solidFill>
              </a:defRPr>
            </a:lvl3pPr>
            <a:lvl4pPr marL="1828800" lvl="3" indent="-228600" algn="l">
              <a:lnSpc>
                <a:spcPct val="90000"/>
              </a:lnSpc>
              <a:spcBef>
                <a:spcPts val="400"/>
              </a:spcBef>
              <a:spcAft>
                <a:spcPts val="0"/>
              </a:spcAft>
              <a:buClr>
                <a:srgbClr val="888888"/>
              </a:buClr>
              <a:buSzPts val="1100"/>
              <a:buNone/>
              <a:defRPr sz="1100">
                <a:solidFill>
                  <a:srgbClr val="888888"/>
                </a:solidFill>
              </a:defRPr>
            </a:lvl4pPr>
            <a:lvl5pPr marL="2286000" lvl="4" indent="-228600" algn="l">
              <a:lnSpc>
                <a:spcPct val="90000"/>
              </a:lnSpc>
              <a:spcBef>
                <a:spcPts val="400"/>
              </a:spcBef>
              <a:spcAft>
                <a:spcPts val="0"/>
              </a:spcAft>
              <a:buClr>
                <a:srgbClr val="888888"/>
              </a:buClr>
              <a:buSzPts val="1100"/>
              <a:buNone/>
              <a:defRPr sz="1100">
                <a:solidFill>
                  <a:srgbClr val="888888"/>
                </a:solidFill>
              </a:defRPr>
            </a:lvl5pPr>
            <a:lvl6pPr marL="2743200" lvl="5" indent="-228600" algn="l">
              <a:lnSpc>
                <a:spcPct val="100000"/>
              </a:lnSpc>
              <a:spcBef>
                <a:spcPts val="200"/>
              </a:spcBef>
              <a:spcAft>
                <a:spcPts val="0"/>
              </a:spcAft>
              <a:buClr>
                <a:srgbClr val="888888"/>
              </a:buClr>
              <a:buSzPts val="1100"/>
              <a:buNone/>
              <a:defRPr sz="1100">
                <a:solidFill>
                  <a:srgbClr val="888888"/>
                </a:solidFill>
              </a:defRPr>
            </a:lvl6pPr>
            <a:lvl7pPr marL="3200400" lvl="6" indent="-228600" algn="l">
              <a:lnSpc>
                <a:spcPct val="100000"/>
              </a:lnSpc>
              <a:spcBef>
                <a:spcPts val="200"/>
              </a:spcBef>
              <a:spcAft>
                <a:spcPts val="0"/>
              </a:spcAft>
              <a:buClr>
                <a:srgbClr val="888888"/>
              </a:buClr>
              <a:buSzPts val="1100"/>
              <a:buNone/>
              <a:defRPr sz="1100">
                <a:solidFill>
                  <a:srgbClr val="888888"/>
                </a:solidFill>
              </a:defRPr>
            </a:lvl7pPr>
            <a:lvl8pPr marL="3657600" lvl="7" indent="-228600" algn="l">
              <a:lnSpc>
                <a:spcPct val="100000"/>
              </a:lnSpc>
              <a:spcBef>
                <a:spcPts val="200"/>
              </a:spcBef>
              <a:spcAft>
                <a:spcPts val="0"/>
              </a:spcAft>
              <a:buClr>
                <a:srgbClr val="888888"/>
              </a:buClr>
              <a:buSzPts val="1100"/>
              <a:buNone/>
              <a:defRPr sz="1100">
                <a:solidFill>
                  <a:srgbClr val="888888"/>
                </a:solidFill>
              </a:defRPr>
            </a:lvl8pPr>
            <a:lvl9pPr marL="4114800" lvl="8" indent="-228600" algn="l">
              <a:lnSpc>
                <a:spcPct val="100000"/>
              </a:lnSpc>
              <a:spcBef>
                <a:spcPts val="200"/>
              </a:spcBef>
              <a:spcAft>
                <a:spcPts val="0"/>
              </a:spcAft>
              <a:buClr>
                <a:srgbClr val="888888"/>
              </a:buClr>
              <a:buSzPts val="1100"/>
              <a:buNone/>
              <a:defRPr sz="1100">
                <a:solidFill>
                  <a:srgbClr val="888888"/>
                </a:solidFill>
              </a:defRPr>
            </a:lvl9pPr>
          </a:lstStyle>
          <a:p>
            <a:endParaRPr/>
          </a:p>
        </p:txBody>
      </p:sp>
      <p:sp>
        <p:nvSpPr>
          <p:cNvPr id="33" name="Google Shape;33;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5"/>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6"/>
        <p:cNvGrpSpPr/>
        <p:nvPr/>
      </p:nvGrpSpPr>
      <p:grpSpPr>
        <a:xfrm>
          <a:off x="0" y="0"/>
          <a:ext cx="0" cy="0"/>
          <a:chOff x="0" y="0"/>
          <a:chExt cx="0" cy="0"/>
        </a:xfrm>
      </p:grpSpPr>
      <p:sp>
        <p:nvSpPr>
          <p:cNvPr id="37" name="Google Shape;37;p6"/>
          <p:cNvSpPr txBox="1">
            <a:spLocks noGrp="1"/>
          </p:cNvSpPr>
          <p:nvPr>
            <p:ph type="body" idx="1"/>
          </p:nvPr>
        </p:nvSpPr>
        <p:spPr>
          <a:xfrm>
            <a:off x="633845" y="1035886"/>
            <a:ext cx="38862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38" name="Google Shape;38;p6"/>
          <p:cNvSpPr txBox="1">
            <a:spLocks noGrp="1"/>
          </p:cNvSpPr>
          <p:nvPr>
            <p:ph type="body" idx="2"/>
          </p:nvPr>
        </p:nvSpPr>
        <p:spPr>
          <a:xfrm>
            <a:off x="4629150" y="1035886"/>
            <a:ext cx="38862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39" name="Google Shape;39;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0" name="Google Shape;40;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1" name="Google Shape;41;p6"/>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2" name="Google Shape;42;p6"/>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43" name="Google Shape;43;p6"/>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44" name="Google Shape;44;p6"/>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45"/>
        <p:cNvGrpSpPr/>
        <p:nvPr/>
      </p:nvGrpSpPr>
      <p:grpSpPr>
        <a:xfrm>
          <a:off x="0" y="0"/>
          <a:ext cx="0" cy="0"/>
          <a:chOff x="0" y="0"/>
          <a:chExt cx="0" cy="0"/>
        </a:xfrm>
      </p:grpSpPr>
      <p:sp>
        <p:nvSpPr>
          <p:cNvPr id="46" name="Google Shape;46;p7"/>
          <p:cNvSpPr txBox="1">
            <a:spLocks noGrp="1"/>
          </p:cNvSpPr>
          <p:nvPr>
            <p:ph type="body" idx="1"/>
          </p:nvPr>
        </p:nvSpPr>
        <p:spPr>
          <a:xfrm>
            <a:off x="633845" y="1035886"/>
            <a:ext cx="38673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47" name="Google Shape;47;p7"/>
          <p:cNvSpPr txBox="1">
            <a:spLocks noGrp="1"/>
          </p:cNvSpPr>
          <p:nvPr>
            <p:ph type="body" idx="2"/>
          </p:nvPr>
        </p:nvSpPr>
        <p:spPr>
          <a:xfrm>
            <a:off x="633845" y="1655160"/>
            <a:ext cx="3867300" cy="2985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48" name="Google Shape;48;p7"/>
          <p:cNvSpPr txBox="1">
            <a:spLocks noGrp="1"/>
          </p:cNvSpPr>
          <p:nvPr>
            <p:ph type="body" idx="3"/>
          </p:nvPr>
        </p:nvSpPr>
        <p:spPr>
          <a:xfrm>
            <a:off x="4629150" y="1035887"/>
            <a:ext cx="38862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49" name="Google Shape;49;p7"/>
          <p:cNvSpPr txBox="1">
            <a:spLocks noGrp="1"/>
          </p:cNvSpPr>
          <p:nvPr>
            <p:ph type="body" idx="4"/>
          </p:nvPr>
        </p:nvSpPr>
        <p:spPr>
          <a:xfrm>
            <a:off x="4629150" y="1655160"/>
            <a:ext cx="3886200" cy="2985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50" name="Google Shape;50;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7"/>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7"/>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54" name="Google Shape;54;p7"/>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55" name="Google Shape;55;p7"/>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8"/>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8"/>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61" name="Google Shape;61;p8"/>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62" name="Google Shape;62;p8"/>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630936" y="342900"/>
            <a:ext cx="2949000" cy="120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 name="Google Shape;65;p9"/>
          <p:cNvSpPr txBox="1">
            <a:spLocks noGrp="1"/>
          </p:cNvSpPr>
          <p:nvPr>
            <p:ph type="body" idx="1"/>
          </p:nvPr>
        </p:nvSpPr>
        <p:spPr>
          <a:xfrm>
            <a:off x="3886200" y="742950"/>
            <a:ext cx="4629300" cy="36576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66" name="Google Shape;66;p9"/>
          <p:cNvSpPr txBox="1">
            <a:spLocks noGrp="1"/>
          </p:cNvSpPr>
          <p:nvPr>
            <p:ph type="body" idx="2"/>
          </p:nvPr>
        </p:nvSpPr>
        <p:spPr>
          <a:xfrm>
            <a:off x="630936" y="1543049"/>
            <a:ext cx="2949000" cy="2857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67" name="Google Shape;67;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9"/>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70" name="Google Shape;70;p9"/>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71" name="Google Shape;71;p9"/>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630936"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10"/>
          <p:cNvSpPr>
            <a:spLocks noGrp="1"/>
          </p:cNvSpPr>
          <p:nvPr>
            <p:ph type="pic" idx="2"/>
          </p:nvPr>
        </p:nvSpPr>
        <p:spPr>
          <a:xfrm>
            <a:off x="3886200" y="742950"/>
            <a:ext cx="4629300" cy="3657600"/>
          </a:xfrm>
          <a:prstGeom prst="rect">
            <a:avLst/>
          </a:prstGeom>
          <a:noFill/>
          <a:ln>
            <a:noFill/>
          </a:ln>
        </p:spPr>
      </p:sp>
      <p:sp>
        <p:nvSpPr>
          <p:cNvPr id="75" name="Google Shape;75;p10"/>
          <p:cNvSpPr txBox="1">
            <a:spLocks noGrp="1"/>
          </p:cNvSpPr>
          <p:nvPr>
            <p:ph type="body" idx="1"/>
          </p:nvPr>
        </p:nvSpPr>
        <p:spPr>
          <a:xfrm>
            <a:off x="630936" y="1543050"/>
            <a:ext cx="2949000" cy="2857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76" name="Google Shape;76;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 name="Google Shape;77;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10"/>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79" name="Google Shape;79;p10"/>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80" name="Google Shape;80;p10"/>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81"/>
        <p:cNvGrpSpPr/>
        <p:nvPr/>
      </p:nvGrpSpPr>
      <p:grpSpPr>
        <a:xfrm>
          <a:off x="0" y="0"/>
          <a:ext cx="0" cy="0"/>
          <a:chOff x="0" y="0"/>
          <a:chExt cx="0" cy="0"/>
        </a:xfrm>
      </p:grpSpPr>
      <p:sp>
        <p:nvSpPr>
          <p:cNvPr id="82" name="Google Shape;82;p11"/>
          <p:cNvSpPr txBox="1">
            <a:spLocks noGrp="1"/>
          </p:cNvSpPr>
          <p:nvPr>
            <p:ph type="body" idx="1"/>
          </p:nvPr>
        </p:nvSpPr>
        <p:spPr>
          <a:xfrm rot="5400000">
            <a:off x="2777645" y="-1107914"/>
            <a:ext cx="35991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83" name="Google Shape;83;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1"/>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6" name="Google Shape;86;p11"/>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87" name="Google Shape;87;p11"/>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88" name="Google Shape;88;p11"/>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2"/>
          <p:cNvSpPr txBox="1">
            <a:spLocks noGrp="1"/>
          </p:cNvSpPr>
          <p:nvPr>
            <p:ph type="title"/>
          </p:nvPr>
        </p:nvSpPr>
        <p:spPr>
          <a:xfrm rot="5400000">
            <a:off x="5350050" y="1463972"/>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 name="Google Shape;91;p12"/>
          <p:cNvSpPr txBox="1">
            <a:spLocks noGrp="1"/>
          </p:cNvSpPr>
          <p:nvPr>
            <p:ph type="body" idx="1"/>
          </p:nvPr>
        </p:nvSpPr>
        <p:spPr>
          <a:xfrm rot="5400000">
            <a:off x="1349475" y="-450628"/>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92" name="Google Shape;92;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2"/>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95" name="Google Shape;95;p12"/>
          <p:cNvCxnSpPr/>
          <p:nvPr/>
        </p:nvCxnSpPr>
        <p:spPr>
          <a:xfrm>
            <a:off x="6543675" y="277589"/>
            <a:ext cx="0" cy="4354800"/>
          </a:xfrm>
          <a:prstGeom prst="straightConnector1">
            <a:avLst/>
          </a:prstGeom>
          <a:noFill/>
          <a:ln w="9525" cap="flat" cmpd="sng">
            <a:solidFill>
              <a:srgbClr val="3DACA7"/>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96"/>
        <p:cNvGrpSpPr/>
        <p:nvPr/>
      </p:nvGrpSpPr>
      <p:grpSpPr>
        <a:xfrm>
          <a:off x="0" y="0"/>
          <a:ext cx="0" cy="0"/>
          <a:chOff x="0" y="0"/>
          <a:chExt cx="0" cy="0"/>
        </a:xfrm>
      </p:grpSpPr>
      <p:sp>
        <p:nvSpPr>
          <p:cNvPr id="97" name="Google Shape;97;p13"/>
          <p:cNvSpPr txBox="1">
            <a:spLocks noGrp="1"/>
          </p:cNvSpPr>
          <p:nvPr>
            <p:ph type="body" idx="1"/>
          </p:nvPr>
        </p:nvSpPr>
        <p:spPr>
          <a:xfrm>
            <a:off x="685799" y="1035886"/>
            <a:ext cx="38343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98" name="Google Shape;98;p13"/>
          <p:cNvSpPr txBox="1">
            <a:spLocks noGrp="1"/>
          </p:cNvSpPr>
          <p:nvPr>
            <p:ph type="body" idx="2"/>
          </p:nvPr>
        </p:nvSpPr>
        <p:spPr>
          <a:xfrm>
            <a:off x="4683577" y="1035886"/>
            <a:ext cx="38289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99" name="Google Shape;99;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0" name="Google Shape;100;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13"/>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02" name="Google Shape;102;p13"/>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03" name="Google Shape;103;p13"/>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04" name="Google Shape;104;p13"/>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105"/>
        <p:cNvGrpSpPr/>
        <p:nvPr/>
      </p:nvGrpSpPr>
      <p:grpSpPr>
        <a:xfrm>
          <a:off x="0" y="0"/>
          <a:ext cx="0" cy="0"/>
          <a:chOff x="0" y="0"/>
          <a:chExt cx="0" cy="0"/>
        </a:xfrm>
      </p:grpSpPr>
      <p:sp>
        <p:nvSpPr>
          <p:cNvPr id="106" name="Google Shape;106;p14"/>
          <p:cNvSpPr txBox="1">
            <a:spLocks noGrp="1"/>
          </p:cNvSpPr>
          <p:nvPr>
            <p:ph type="body" idx="1"/>
          </p:nvPr>
        </p:nvSpPr>
        <p:spPr>
          <a:xfrm>
            <a:off x="685799" y="946718"/>
            <a:ext cx="38151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07" name="Google Shape;107;p14"/>
          <p:cNvSpPr txBox="1">
            <a:spLocks noGrp="1"/>
          </p:cNvSpPr>
          <p:nvPr>
            <p:ph type="body" idx="2"/>
          </p:nvPr>
        </p:nvSpPr>
        <p:spPr>
          <a:xfrm>
            <a:off x="685799" y="1616168"/>
            <a:ext cx="3815100" cy="3024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08" name="Google Shape;108;p14"/>
          <p:cNvSpPr txBox="1">
            <a:spLocks noGrp="1"/>
          </p:cNvSpPr>
          <p:nvPr>
            <p:ph type="body" idx="3"/>
          </p:nvPr>
        </p:nvSpPr>
        <p:spPr>
          <a:xfrm>
            <a:off x="4672693" y="946716"/>
            <a:ext cx="38289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09" name="Google Shape;109;p14"/>
          <p:cNvSpPr txBox="1">
            <a:spLocks noGrp="1"/>
          </p:cNvSpPr>
          <p:nvPr>
            <p:ph type="body" idx="4"/>
          </p:nvPr>
        </p:nvSpPr>
        <p:spPr>
          <a:xfrm>
            <a:off x="4672693" y="1616168"/>
            <a:ext cx="3828900" cy="3024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10" name="Google Shape;110;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14"/>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13" name="Google Shape;113;p14"/>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14" name="Google Shape;114;p14"/>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15" name="Google Shape;115;p14"/>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16"/>
        <p:cNvGrpSpPr/>
        <p:nvPr/>
      </p:nvGrpSpPr>
      <p:grpSpPr>
        <a:xfrm>
          <a:off x="0" y="0"/>
          <a:ext cx="0" cy="0"/>
          <a:chOff x="0" y="0"/>
          <a:chExt cx="0" cy="0"/>
        </a:xfrm>
      </p:grpSpPr>
      <p:sp>
        <p:nvSpPr>
          <p:cNvPr id="117" name="Google Shape;117;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9" name="Google Shape;119;p15"/>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20" name="Google Shape;120;p15"/>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21" name="Google Shape;121;p15"/>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22" name="Google Shape;122;p15"/>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123"/>
        <p:cNvGrpSpPr/>
        <p:nvPr/>
      </p:nvGrpSpPr>
      <p:grpSpPr>
        <a:xfrm>
          <a:off x="0" y="0"/>
          <a:ext cx="0" cy="0"/>
          <a:chOff x="0" y="0"/>
          <a:chExt cx="0" cy="0"/>
        </a:xfrm>
      </p:grpSpPr>
      <p:sp>
        <p:nvSpPr>
          <p:cNvPr id="124" name="Google Shape;124;p16"/>
          <p:cNvSpPr txBox="1">
            <a:spLocks noGrp="1"/>
          </p:cNvSpPr>
          <p:nvPr>
            <p:ph type="body" idx="1"/>
          </p:nvPr>
        </p:nvSpPr>
        <p:spPr>
          <a:xfrm>
            <a:off x="3886200" y="742950"/>
            <a:ext cx="4629300" cy="36576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125" name="Google Shape;125;p16"/>
          <p:cNvSpPr txBox="1">
            <a:spLocks noGrp="1"/>
          </p:cNvSpPr>
          <p:nvPr>
            <p:ph type="body" idx="2"/>
          </p:nvPr>
        </p:nvSpPr>
        <p:spPr>
          <a:xfrm>
            <a:off x="630936" y="1643745"/>
            <a:ext cx="2949000" cy="2756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26" name="Google Shape;126;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8" name="Google Shape;128;p16"/>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29" name="Google Shape;129;p16"/>
          <p:cNvSpPr txBox="1">
            <a:spLocks noGrp="1"/>
          </p:cNvSpPr>
          <p:nvPr>
            <p:ph type="title"/>
          </p:nvPr>
        </p:nvSpPr>
        <p:spPr>
          <a:xfrm>
            <a:off x="630936" y="342900"/>
            <a:ext cx="2949000" cy="11157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solidFill>
                  <a:srgbClr val="3EADA7"/>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30" name="Google Shape;130;p16"/>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131" name="Google Shape;131;p16"/>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32"/>
        <p:cNvGrpSpPr/>
        <p:nvPr/>
      </p:nvGrpSpPr>
      <p:grpSpPr>
        <a:xfrm>
          <a:off x="0" y="0"/>
          <a:ext cx="0" cy="0"/>
          <a:chOff x="0" y="0"/>
          <a:chExt cx="0" cy="0"/>
        </a:xfrm>
      </p:grpSpPr>
      <p:sp>
        <p:nvSpPr>
          <p:cNvPr id="133" name="Google Shape;133;p17"/>
          <p:cNvSpPr>
            <a:spLocks noGrp="1"/>
          </p:cNvSpPr>
          <p:nvPr>
            <p:ph type="pic" idx="2"/>
          </p:nvPr>
        </p:nvSpPr>
        <p:spPr>
          <a:xfrm>
            <a:off x="3886200" y="742950"/>
            <a:ext cx="4629300" cy="3657600"/>
          </a:xfrm>
          <a:prstGeom prst="rect">
            <a:avLst/>
          </a:prstGeom>
          <a:noFill/>
          <a:ln>
            <a:noFill/>
          </a:ln>
        </p:spPr>
      </p:sp>
      <p:sp>
        <p:nvSpPr>
          <p:cNvPr id="134" name="Google Shape;134;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5" name="Google Shape;135;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6" name="Google Shape;136;p17"/>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37" name="Google Shape;137;p17"/>
          <p:cNvSpPr txBox="1">
            <a:spLocks noGrp="1"/>
          </p:cNvSpPr>
          <p:nvPr>
            <p:ph type="body" idx="1"/>
          </p:nvPr>
        </p:nvSpPr>
        <p:spPr>
          <a:xfrm>
            <a:off x="630936" y="1643745"/>
            <a:ext cx="2949000" cy="2756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38" name="Google Shape;138;p17"/>
          <p:cNvSpPr txBox="1">
            <a:spLocks noGrp="1"/>
          </p:cNvSpPr>
          <p:nvPr>
            <p:ph type="title"/>
          </p:nvPr>
        </p:nvSpPr>
        <p:spPr>
          <a:xfrm>
            <a:off x="630936" y="342900"/>
            <a:ext cx="2949000" cy="11157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solidFill>
                  <a:srgbClr val="3EADA7"/>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39" name="Google Shape;139;p17"/>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140" name="Google Shape;140;p17"/>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Vertical Text">
  <p:cSld name="1_Title and Vertical Text">
    <p:spTree>
      <p:nvGrpSpPr>
        <p:cNvPr id="1" name="Shape 141"/>
        <p:cNvGrpSpPr/>
        <p:nvPr/>
      </p:nvGrpSpPr>
      <p:grpSpPr>
        <a:xfrm>
          <a:off x="0" y="0"/>
          <a:ext cx="0" cy="0"/>
          <a:chOff x="0" y="0"/>
          <a:chExt cx="0" cy="0"/>
        </a:xfrm>
      </p:grpSpPr>
      <p:sp>
        <p:nvSpPr>
          <p:cNvPr id="142" name="Google Shape;142;p18"/>
          <p:cNvSpPr txBox="1">
            <a:spLocks noGrp="1"/>
          </p:cNvSpPr>
          <p:nvPr>
            <p:ph type="body" idx="1"/>
          </p:nvPr>
        </p:nvSpPr>
        <p:spPr>
          <a:xfrm rot="5400000">
            <a:off x="2786945" y="-1122314"/>
            <a:ext cx="3575400" cy="7891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43" name="Google Shape;143;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4" name="Google Shape;144;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5" name="Google Shape;145;p18"/>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6" name="Google Shape;146;p18"/>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47" name="Google Shape;147;p18"/>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48" name="Google Shape;148;p18"/>
          <p:cNvPicPr preferRelativeResize="0"/>
          <p:nvPr/>
        </p:nvPicPr>
        <p:blipFill rotWithShape="1">
          <a:blip r:embed="rId2">
            <a:alphaModFix/>
          </a:blip>
          <a:srcRect/>
          <a:stretch/>
        </p:blipFill>
        <p:spPr>
          <a:xfrm>
            <a:off x="7920470" y="416256"/>
            <a:ext cx="600075" cy="33575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33845" y="274320"/>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rgbClr val="3EADA7"/>
              </a:buClr>
              <a:buSzPts val="3300"/>
              <a:buFont typeface="Quattrocento Sans"/>
              <a:buNone/>
              <a:defRPr sz="3300" b="0" i="0" u="none" strike="noStrike" cap="none">
                <a:solidFill>
                  <a:srgbClr val="3EADA7"/>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33845" y="1371600"/>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Noto Sans Symbols"/>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Noto Sans Symbols"/>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800" b="0" i="0" u="none" strike="noStrike" cap="none">
                <a:solidFill>
                  <a:srgbClr val="59595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800" b="0" i="0" u="none" strike="noStrike" cap="none">
                <a:solidFill>
                  <a:srgbClr val="59595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6314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3.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4167000" y="1004775"/>
            <a:ext cx="1641900" cy="522000"/>
          </a:xfrm>
          <a:prstGeom prst="rect">
            <a:avLst/>
          </a:prstGeom>
          <a:noFill/>
          <a:ln>
            <a:noFill/>
          </a:ln>
        </p:spPr>
        <p:txBody>
          <a:bodyPr spcFirstLastPara="1" wrap="square" lIns="68575" tIns="34275" rIns="68575" bIns="34275" anchor="b" anchorCtr="0">
            <a:normAutofit fontScale="90000"/>
          </a:bodyPr>
          <a:lstStyle/>
          <a:p>
            <a:pPr marL="0" lvl="0" indent="0" algn="l" rtl="0">
              <a:lnSpc>
                <a:spcPct val="115000"/>
              </a:lnSpc>
              <a:spcBef>
                <a:spcPts val="1200"/>
              </a:spcBef>
              <a:spcAft>
                <a:spcPts val="0"/>
              </a:spcAft>
              <a:buSzPct val="111111"/>
              <a:buNone/>
            </a:pPr>
            <a:endParaRPr/>
          </a:p>
          <a:p>
            <a:pPr marL="0" lvl="0" indent="0" algn="l" rtl="0">
              <a:lnSpc>
                <a:spcPct val="115000"/>
              </a:lnSpc>
              <a:spcBef>
                <a:spcPts val="1200"/>
              </a:spcBef>
              <a:spcAft>
                <a:spcPts val="0"/>
              </a:spcAft>
              <a:buSzPct val="111111"/>
              <a:buNone/>
            </a:pPr>
            <a:endParaRPr/>
          </a:p>
          <a:p>
            <a:pPr marL="0" lvl="0" indent="0" algn="l" rtl="0">
              <a:lnSpc>
                <a:spcPct val="115000"/>
              </a:lnSpc>
              <a:spcBef>
                <a:spcPts val="1200"/>
              </a:spcBef>
              <a:spcAft>
                <a:spcPts val="0"/>
              </a:spcAft>
              <a:buClr>
                <a:schemeClr val="dk1"/>
              </a:buClr>
              <a:buSzPct val="26829"/>
              <a:buFont typeface="Arial"/>
              <a:buNone/>
            </a:pPr>
            <a:endParaRPr/>
          </a:p>
          <a:p>
            <a:pPr marL="0" lvl="0" indent="0" algn="r" rtl="0">
              <a:lnSpc>
                <a:spcPct val="90000"/>
              </a:lnSpc>
              <a:spcBef>
                <a:spcPts val="1200"/>
              </a:spcBef>
              <a:spcAft>
                <a:spcPts val="0"/>
              </a:spcAft>
              <a:buSzPct val="111111"/>
              <a:buNone/>
            </a:pPr>
            <a:endParaRPr/>
          </a:p>
        </p:txBody>
      </p:sp>
      <p:sp>
        <p:nvSpPr>
          <p:cNvPr id="154" name="Google Shape;154;p19"/>
          <p:cNvSpPr txBox="1"/>
          <p:nvPr/>
        </p:nvSpPr>
        <p:spPr>
          <a:xfrm>
            <a:off x="707727" y="654450"/>
            <a:ext cx="7894800" cy="1744649"/>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US" sz="2800" b="1">
                <a:solidFill>
                  <a:schemeClr val="lt1"/>
                </a:solidFill>
                <a:latin typeface="Quattrocento Sans" panose="020B0502050000020003" pitchFamily="34" charset="0"/>
                <a:ea typeface="Calibri"/>
                <a:cs typeface="Calibri"/>
                <a:sym typeface="Calibri"/>
              </a:rPr>
              <a:t>PREDICTING CRISPR SCREEN Z-SCORES USING EPIGENETIC PROFILES, TF BINDING DATA, AND MOTIF SCORES USING MACHINE LEARNING.</a:t>
            </a:r>
            <a:endParaRPr sz="2800" b="1">
              <a:solidFill>
                <a:schemeClr val="dk1"/>
              </a:solidFill>
              <a:latin typeface="Quattrocento Sans" panose="020B0502050000020003" pitchFamily="34" charset="0"/>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800" b="1">
              <a:solidFill>
                <a:schemeClr val="dk1"/>
              </a:solidFill>
              <a:latin typeface="Quattrocento Sans" panose="020B0502050000020003" pitchFamily="34" charset="0"/>
              <a:ea typeface="Calibri"/>
              <a:cs typeface="Calibri"/>
              <a:sym typeface="Calibri"/>
            </a:endParaRPr>
          </a:p>
        </p:txBody>
      </p:sp>
      <p:sp>
        <p:nvSpPr>
          <p:cNvPr id="155" name="Google Shape;155;p19"/>
          <p:cNvSpPr txBox="1"/>
          <p:nvPr/>
        </p:nvSpPr>
        <p:spPr>
          <a:xfrm>
            <a:off x="6298350" y="3073075"/>
            <a:ext cx="2631600" cy="2247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lt1"/>
                </a:solidFill>
                <a:latin typeface="Calibri"/>
                <a:ea typeface="Calibri"/>
                <a:cs typeface="Calibri"/>
                <a:sym typeface="Calibri"/>
              </a:rPr>
              <a:t>SUBMITTED BY:</a:t>
            </a:r>
            <a:endParaRPr sz="1700" b="1" i="0" u="none" strike="noStrike" cap="none">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US" sz="1700" b="1">
                <a:solidFill>
                  <a:schemeClr val="lt1"/>
                </a:solidFill>
                <a:latin typeface="Calibri"/>
                <a:ea typeface="Calibri"/>
                <a:cs typeface="Calibri"/>
                <a:sym typeface="Calibri"/>
              </a:rPr>
              <a:t>Alisha (MT23240)</a:t>
            </a:r>
            <a:endParaRPr sz="1700" b="1">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US" sz="1700" b="1">
                <a:solidFill>
                  <a:schemeClr val="lt1"/>
                </a:solidFill>
                <a:latin typeface="Calibri"/>
                <a:ea typeface="Calibri"/>
                <a:cs typeface="Calibri"/>
                <a:sym typeface="Calibri"/>
              </a:rPr>
              <a:t>Harnoor (MT23229)</a:t>
            </a:r>
            <a:endParaRPr sz="1700" b="1">
              <a:solidFill>
                <a:schemeClr val="lt1"/>
              </a:solidFill>
              <a:latin typeface="Calibri"/>
              <a:ea typeface="Calibri"/>
              <a:cs typeface="Calibri"/>
              <a:sym typeface="Calibri"/>
            </a:endParaRPr>
          </a:p>
          <a:p>
            <a:pPr marL="0" lvl="0" indent="0" algn="l" rtl="0">
              <a:spcBef>
                <a:spcPts val="0"/>
              </a:spcBef>
              <a:spcAft>
                <a:spcPts val="0"/>
              </a:spcAft>
              <a:buClr>
                <a:schemeClr val="dk1"/>
              </a:buClr>
              <a:buSzPts val="1700"/>
              <a:buFont typeface="Arial"/>
              <a:buNone/>
            </a:pPr>
            <a:r>
              <a:rPr lang="en-US" sz="1700" b="1">
                <a:solidFill>
                  <a:schemeClr val="lt1"/>
                </a:solidFill>
                <a:latin typeface="Calibri"/>
                <a:ea typeface="Calibri"/>
                <a:cs typeface="Calibri"/>
                <a:sym typeface="Calibri"/>
              </a:rPr>
              <a:t>Neha (MT24305)</a:t>
            </a:r>
            <a:endParaRPr sz="1700" b="1">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US" sz="1700" b="1">
                <a:solidFill>
                  <a:schemeClr val="lt1"/>
                </a:solidFill>
                <a:latin typeface="Calibri"/>
                <a:ea typeface="Calibri"/>
                <a:cs typeface="Calibri"/>
                <a:sym typeface="Calibri"/>
              </a:rPr>
              <a:t>Riya (MT23235)</a:t>
            </a:r>
            <a:endParaRPr sz="1700" b="1">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US" sz="1700" b="1">
                <a:solidFill>
                  <a:schemeClr val="lt1"/>
                </a:solidFill>
                <a:latin typeface="Calibri"/>
                <a:ea typeface="Calibri"/>
                <a:cs typeface="Calibri"/>
                <a:sym typeface="Calibri"/>
              </a:rPr>
              <a:t>Spoorthy (MT24228)</a:t>
            </a:r>
            <a:endParaRPr sz="1700" b="1">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endParaRPr sz="1700" b="1">
              <a:solidFill>
                <a:schemeClr val="lt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
        <p:nvSpPr>
          <p:cNvPr id="156" name="Google Shape;156;p19"/>
          <p:cNvSpPr txBox="1"/>
          <p:nvPr/>
        </p:nvSpPr>
        <p:spPr>
          <a:xfrm>
            <a:off x="6372400" y="2665675"/>
            <a:ext cx="1670700" cy="40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Calibri"/>
                <a:ea typeface="Calibri"/>
                <a:cs typeface="Calibri"/>
                <a:sym typeface="Calibri"/>
              </a:rPr>
              <a:t>GROUP_3</a:t>
            </a:r>
            <a:endParaRPr sz="2100" b="1">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633845" y="274320"/>
            <a:ext cx="7393488" cy="648393"/>
          </a:xfrm>
        </p:spPr>
        <p:txBody>
          <a:bodyPr spcFirstLastPara="1" wrap="square" lIns="68575" tIns="34275" rIns="68575" bIns="34275" anchor="ctr" anchorCtr="0">
            <a:normAutofit/>
          </a:bodyPr>
          <a:lstStyle/>
          <a:p>
            <a:pPr algn="ctr"/>
            <a:r>
              <a:rPr lang="en-US" sz="2600" b="1"/>
              <a:t>INTRODUCTION TO CRISPR SCREENING</a:t>
            </a:r>
            <a:endParaRPr lang="en-IN" sz="2800" b="1"/>
          </a:p>
        </p:txBody>
      </p:sp>
      <p:pic>
        <p:nvPicPr>
          <p:cNvPr id="469" name="Picture 468">
            <a:extLst>
              <a:ext uri="{FF2B5EF4-FFF2-40B4-BE49-F238E27FC236}">
                <a16:creationId xmlns:a16="http://schemas.microsoft.com/office/drawing/2014/main" id="{BCB2D627-748E-9F4C-1CD0-39D2D290761D}"/>
              </a:ext>
            </a:extLst>
          </p:cNvPr>
          <p:cNvPicPr>
            <a:picLocks noChangeAspect="1"/>
          </p:cNvPicPr>
          <p:nvPr/>
        </p:nvPicPr>
        <p:blipFill>
          <a:blip r:embed="rId3"/>
          <a:stretch>
            <a:fillRect/>
          </a:stretch>
        </p:blipFill>
        <p:spPr>
          <a:xfrm>
            <a:off x="280987" y="924708"/>
            <a:ext cx="8582025" cy="3638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graphicFrame>
        <p:nvGraphicFramePr>
          <p:cNvPr id="221" name="Google Shape;219;p25">
            <a:extLst>
              <a:ext uri="{FF2B5EF4-FFF2-40B4-BE49-F238E27FC236}">
                <a16:creationId xmlns:a16="http://schemas.microsoft.com/office/drawing/2014/main" id="{6626A4AC-EA58-610E-9573-F02BC9A8C6D7}"/>
              </a:ext>
            </a:extLst>
          </p:cNvPr>
          <p:cNvGraphicFramePr/>
          <p:nvPr>
            <p:extLst>
              <p:ext uri="{D42A27DB-BD31-4B8C-83A1-F6EECF244321}">
                <p14:modId xmlns:p14="http://schemas.microsoft.com/office/powerpoint/2010/main" val="3111334089"/>
              </p:ext>
            </p:extLst>
          </p:nvPr>
        </p:nvGraphicFramePr>
        <p:xfrm>
          <a:off x="703872" y="1205282"/>
          <a:ext cx="7886700" cy="3264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itle 3">
            <a:extLst>
              <a:ext uri="{FF2B5EF4-FFF2-40B4-BE49-F238E27FC236}">
                <a16:creationId xmlns:a16="http://schemas.microsoft.com/office/drawing/2014/main" id="{4C039854-CAAF-55A1-2C49-6D23FCEF39A6}"/>
              </a:ext>
            </a:extLst>
          </p:cNvPr>
          <p:cNvSpPr>
            <a:spLocks noGrp="1"/>
          </p:cNvSpPr>
          <p:nvPr>
            <p:ph type="title"/>
          </p:nvPr>
        </p:nvSpPr>
        <p:spPr>
          <a:xfrm>
            <a:off x="633413" y="274639"/>
            <a:ext cx="7886700" cy="639762"/>
          </a:xfrm>
        </p:spPr>
        <p:txBody>
          <a:bodyPr wrap="square" anchor="ctr">
            <a:normAutofit/>
          </a:bodyPr>
          <a:lstStyle/>
          <a:p>
            <a:pPr algn="ctr"/>
            <a:r>
              <a:rPr lang="en-US" b="1"/>
              <a:t>METHODOLOGY</a:t>
            </a:r>
          </a:p>
        </p:txBody>
      </p:sp>
      <p:sp>
        <p:nvSpPr>
          <p:cNvPr id="7" name="Arrow: Right 6">
            <a:extLst>
              <a:ext uri="{FF2B5EF4-FFF2-40B4-BE49-F238E27FC236}">
                <a16:creationId xmlns:a16="http://schemas.microsoft.com/office/drawing/2014/main" id="{4FBE31DD-49BC-55AD-ADA0-37C7B88E7DFF}"/>
              </a:ext>
            </a:extLst>
          </p:cNvPr>
          <p:cNvSpPr/>
          <p:nvPr/>
        </p:nvSpPr>
        <p:spPr>
          <a:xfrm>
            <a:off x="2499320" y="1709243"/>
            <a:ext cx="299991" cy="389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3E93FB4B-C47A-FF52-B9E1-E2182AB99D54}"/>
              </a:ext>
            </a:extLst>
          </p:cNvPr>
          <p:cNvSpPr/>
          <p:nvPr/>
        </p:nvSpPr>
        <p:spPr>
          <a:xfrm>
            <a:off x="4447676" y="1722690"/>
            <a:ext cx="326885" cy="658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2A45E838-1E3F-6151-7D08-F972DC9BE096}"/>
              </a:ext>
            </a:extLst>
          </p:cNvPr>
          <p:cNvSpPr/>
          <p:nvPr/>
        </p:nvSpPr>
        <p:spPr>
          <a:xfrm>
            <a:off x="6421337" y="1729414"/>
            <a:ext cx="23275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52BEE24A-C3E3-2642-CCEC-DBDA0BEBC58A}"/>
              </a:ext>
            </a:extLst>
          </p:cNvPr>
          <p:cNvSpPr/>
          <p:nvPr/>
        </p:nvSpPr>
        <p:spPr>
          <a:xfrm>
            <a:off x="2566555" y="2861534"/>
            <a:ext cx="23275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1BE916A5-5639-5B21-84E2-D5B6758F4A56}"/>
              </a:ext>
            </a:extLst>
          </p:cNvPr>
          <p:cNvSpPr/>
          <p:nvPr/>
        </p:nvSpPr>
        <p:spPr>
          <a:xfrm>
            <a:off x="4445231" y="2866911"/>
            <a:ext cx="247793" cy="457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E479148A-FF21-E7A0-72D3-AE043E4F9C17}"/>
              </a:ext>
            </a:extLst>
          </p:cNvPr>
          <p:cNvSpPr/>
          <p:nvPr/>
        </p:nvSpPr>
        <p:spPr>
          <a:xfrm>
            <a:off x="6401166" y="2834640"/>
            <a:ext cx="321752" cy="524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6"/>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US" b="1"/>
              <a:t>DATA COLLECTION </a:t>
            </a:r>
            <a:endParaRPr lang="en-US"/>
          </a:p>
        </p:txBody>
      </p:sp>
      <p:sp>
        <p:nvSpPr>
          <p:cNvPr id="225" name="Google Shape;225;p26"/>
          <p:cNvSpPr txBox="1"/>
          <p:nvPr/>
        </p:nvSpPr>
        <p:spPr>
          <a:xfrm>
            <a:off x="248400" y="1087825"/>
            <a:ext cx="5475141" cy="457250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800"/>
              </a:spcBef>
              <a:spcAft>
                <a:spcPts val="0"/>
              </a:spcAft>
              <a:buNone/>
            </a:pPr>
            <a:r>
              <a:rPr lang="en-US" sz="1200">
                <a:solidFill>
                  <a:schemeClr val="dk1"/>
                </a:solidFill>
                <a:latin typeface="Roboto"/>
                <a:ea typeface="Roboto"/>
                <a:cs typeface="Roboto"/>
                <a:sym typeface="Roboto"/>
              </a:rPr>
              <a:t>We do have three different files to work on.</a:t>
            </a:r>
          </a:p>
          <a:p>
            <a:pPr marL="0" lvl="0" indent="0" algn="l" rtl="0">
              <a:lnSpc>
                <a:spcPct val="90000"/>
              </a:lnSpc>
              <a:spcBef>
                <a:spcPts val="800"/>
              </a:spcBef>
              <a:spcAft>
                <a:spcPts val="0"/>
              </a:spcAft>
              <a:buNone/>
            </a:pPr>
            <a:r>
              <a:rPr lang="en-US" sz="1200" b="1" u="sng">
                <a:solidFill>
                  <a:schemeClr val="dk1"/>
                </a:solidFill>
                <a:latin typeface="Roboto"/>
                <a:ea typeface="Roboto"/>
                <a:cs typeface="Roboto"/>
                <a:sym typeface="Roboto"/>
              </a:rPr>
              <a:t>File 01</a:t>
            </a:r>
            <a:r>
              <a:rPr lang="en-US" sz="1200" b="1">
                <a:solidFill>
                  <a:schemeClr val="dk1"/>
                </a:solidFill>
                <a:latin typeface="Roboto"/>
                <a:ea typeface="Roboto"/>
                <a:cs typeface="Roboto"/>
                <a:sym typeface="Roboto"/>
              </a:rPr>
              <a:t>- </a:t>
            </a:r>
            <a:r>
              <a:rPr lang="en-US" sz="1200">
                <a:solidFill>
                  <a:schemeClr val="dk1"/>
                </a:solidFill>
                <a:latin typeface="Roboto"/>
                <a:ea typeface="Roboto"/>
                <a:cs typeface="Roboto"/>
                <a:sym typeface="Roboto"/>
              </a:rPr>
              <a:t> combined_enh_pro_4col_sorted.bed, the file likely contains enhancer-promoter mappings or annotated genomic regions where:</a:t>
            </a:r>
            <a:endParaRPr lang="en-US" sz="1200">
              <a:solidFill>
                <a:schemeClr val="dk1"/>
              </a:solidFill>
              <a:latin typeface="Roboto"/>
              <a:ea typeface="Roboto"/>
              <a:cs typeface="Roboto"/>
            </a:endParaRPr>
          </a:p>
          <a:p>
            <a:pPr marL="457200" lvl="0" indent="-304800" algn="l" rtl="0">
              <a:lnSpc>
                <a:spcPct val="115000"/>
              </a:lnSpc>
              <a:spcBef>
                <a:spcPts val="120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Each row corresponds to a genomic region (enhancer or promoter).</a:t>
            </a:r>
            <a:endParaRPr lang="en-US" sz="1200">
              <a:solidFill>
                <a:schemeClr val="dk1"/>
              </a:solidFill>
              <a:latin typeface="Roboto"/>
              <a:ea typeface="Roboto"/>
              <a:cs typeface="Roboto"/>
            </a:endParaRPr>
          </a:p>
          <a:p>
            <a:pPr marL="457200" lvl="0" indent="-304800" algn="l" rtl="0">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The region is defined by the chromosome, start, and end positions.</a:t>
            </a:r>
            <a:endParaRPr lang="en-US" sz="1200">
              <a:solidFill>
                <a:schemeClr val="dk1"/>
              </a:solidFill>
              <a:latin typeface="Roboto"/>
              <a:ea typeface="Roboto"/>
              <a:cs typeface="Roboto"/>
            </a:endParaRPr>
          </a:p>
          <a:p>
            <a:pPr marL="457200" lvl="0" indent="-304800" algn="l" rtl="0">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The associated gene or non-coding RNA (e.g., </a:t>
            </a:r>
            <a:r>
              <a:rPr lang="en-US" sz="1200">
                <a:solidFill>
                  <a:srgbClr val="188038"/>
                </a:solidFill>
                <a:latin typeface="Roboto"/>
                <a:ea typeface="Roboto"/>
                <a:cs typeface="Roboto"/>
                <a:sym typeface="Roboto"/>
              </a:rPr>
              <a:t>MIR1302-2HG</a:t>
            </a:r>
            <a:r>
              <a:rPr lang="en-US" sz="1200">
                <a:solidFill>
                  <a:schemeClr val="dk1"/>
                </a:solidFill>
                <a:latin typeface="Roboto"/>
                <a:ea typeface="Roboto"/>
                <a:cs typeface="Roboto"/>
                <a:sym typeface="Roboto"/>
              </a:rPr>
              <a:t>, </a:t>
            </a:r>
            <a:r>
              <a:rPr lang="en-US" sz="1200">
                <a:solidFill>
                  <a:srgbClr val="188038"/>
                </a:solidFill>
                <a:latin typeface="Roboto"/>
                <a:ea typeface="Roboto"/>
                <a:cs typeface="Roboto"/>
                <a:sym typeface="Roboto"/>
              </a:rPr>
              <a:t>FAM138A</a:t>
            </a:r>
            <a:r>
              <a:rPr lang="en-US" sz="1200">
                <a:solidFill>
                  <a:schemeClr val="dk1"/>
                </a:solidFill>
                <a:latin typeface="Roboto"/>
                <a:ea typeface="Roboto"/>
                <a:cs typeface="Roboto"/>
                <a:sym typeface="Roboto"/>
              </a:rPr>
              <a:t>) is listed in the last column.</a:t>
            </a:r>
            <a:endParaRPr lang="en-US" sz="1200">
              <a:solidFill>
                <a:schemeClr val="dk1"/>
              </a:solidFill>
              <a:latin typeface="Roboto"/>
              <a:ea typeface="Roboto"/>
              <a:cs typeface="Roboto"/>
            </a:endParaRPr>
          </a:p>
          <a:p>
            <a:pPr marL="0" lvl="0" indent="0" algn="l" rtl="0">
              <a:lnSpc>
                <a:spcPct val="115000"/>
              </a:lnSpc>
              <a:spcBef>
                <a:spcPts val="1200"/>
              </a:spcBef>
              <a:spcAft>
                <a:spcPts val="0"/>
              </a:spcAft>
              <a:buNone/>
            </a:pPr>
            <a:r>
              <a:rPr lang="en-US" sz="1200" b="1" u="sng">
                <a:solidFill>
                  <a:schemeClr val="dk1"/>
                </a:solidFill>
                <a:latin typeface="Roboto"/>
                <a:ea typeface="Roboto"/>
                <a:cs typeface="Roboto"/>
                <a:sym typeface="Roboto"/>
              </a:rPr>
              <a:t>File 02 -</a:t>
            </a:r>
            <a:r>
              <a:rPr lang="en-US" sz="1200">
                <a:solidFill>
                  <a:schemeClr val="dk1"/>
                </a:solidFill>
                <a:latin typeface="Roboto"/>
                <a:ea typeface="Roboto"/>
                <a:cs typeface="Roboto"/>
                <a:sym typeface="Roboto"/>
              </a:rPr>
              <a:t> peakscores_hg19.csv, have z score value of mutations</a:t>
            </a:r>
            <a:endParaRPr lang="en-US" sz="1200">
              <a:solidFill>
                <a:schemeClr val="dk1"/>
              </a:solidFill>
              <a:latin typeface="Roboto"/>
              <a:ea typeface="Roboto"/>
              <a:cs typeface="Roboto"/>
            </a:endParaRPr>
          </a:p>
          <a:p>
            <a:pPr>
              <a:lnSpc>
                <a:spcPct val="115000"/>
              </a:lnSpc>
              <a:spcBef>
                <a:spcPts val="1200"/>
              </a:spcBef>
            </a:pPr>
            <a:r>
              <a:rPr lang="en-US" sz="1200" b="1" u="sng">
                <a:solidFill>
                  <a:schemeClr val="dk1"/>
                </a:solidFill>
                <a:latin typeface="Roboto"/>
                <a:ea typeface="Roboto"/>
                <a:cs typeface="Roboto"/>
                <a:sym typeface="Roboto"/>
              </a:rPr>
              <a:t>File 03</a:t>
            </a:r>
            <a:r>
              <a:rPr lang="en-US" sz="1200">
                <a:solidFill>
                  <a:schemeClr val="dk1"/>
                </a:solidFill>
                <a:latin typeface="Roboto"/>
                <a:ea typeface="Roboto"/>
                <a:cs typeface="Roboto"/>
                <a:sym typeface="Roboto"/>
              </a:rPr>
              <a:t> - </a:t>
            </a:r>
            <a:r>
              <a:rPr lang="en-US" sz="1200">
                <a:solidFill>
                  <a:srgbClr val="1F1F1F"/>
                </a:solidFill>
                <a:highlight>
                  <a:srgbClr val="FFFFFF"/>
                </a:highlight>
                <a:latin typeface="Roboto"/>
                <a:ea typeface="Roboto"/>
                <a:cs typeface="Roboto"/>
                <a:sym typeface="Roboto"/>
              </a:rPr>
              <a:t>enhancer_curated_CRISPR_hg19.txt, in the file e</a:t>
            </a:r>
            <a:r>
              <a:rPr lang="en-US" sz="1200">
                <a:solidFill>
                  <a:schemeClr val="dk1"/>
                </a:solidFill>
                <a:latin typeface="Roboto"/>
                <a:ea typeface="Roboto"/>
                <a:cs typeface="Roboto"/>
                <a:sym typeface="Roboto"/>
              </a:rPr>
              <a:t>ach row represents an enhancer region identified or curated from CRISPR screening datasets. These are regions believed to regulate gene expression and were experimentally perturbed to study their function. Chromosomes include autosomal (</a:t>
            </a:r>
            <a:r>
              <a:rPr lang="en-US" sz="1200">
                <a:solidFill>
                  <a:srgbClr val="188038"/>
                </a:solidFill>
                <a:latin typeface="Roboto"/>
                <a:ea typeface="Roboto"/>
                <a:cs typeface="Roboto"/>
                <a:sym typeface="Roboto"/>
              </a:rPr>
              <a:t>chr21</a:t>
            </a:r>
            <a:r>
              <a:rPr lang="en-US" sz="1200">
                <a:solidFill>
                  <a:schemeClr val="dk1"/>
                </a:solidFill>
                <a:latin typeface="Roboto"/>
                <a:ea typeface="Roboto"/>
                <a:cs typeface="Roboto"/>
                <a:sym typeface="Roboto"/>
              </a:rPr>
              <a:t>) and sex chromosomes (</a:t>
            </a:r>
            <a:r>
              <a:rPr lang="en-US" sz="1200" err="1">
                <a:solidFill>
                  <a:srgbClr val="188038"/>
                </a:solidFill>
                <a:latin typeface="Roboto"/>
                <a:ea typeface="Roboto"/>
                <a:cs typeface="Roboto"/>
                <a:sym typeface="Roboto"/>
              </a:rPr>
              <a:t>chrX</a:t>
            </a:r>
            <a:r>
              <a:rPr lang="en-US" sz="1200">
                <a:solidFill>
                  <a:schemeClr val="dk1"/>
                </a:solidFill>
                <a:latin typeface="Roboto"/>
                <a:ea typeface="Roboto"/>
                <a:cs typeface="Roboto"/>
                <a:sym typeface="Roboto"/>
              </a:rPr>
              <a:t>). </a:t>
            </a:r>
            <a:endParaRPr lang="en-US" sz="1200">
              <a:solidFill>
                <a:schemeClr val="dk1"/>
              </a:solidFill>
              <a:latin typeface="Roboto"/>
              <a:ea typeface="Roboto"/>
              <a:cs typeface="Roboto"/>
            </a:endParaRPr>
          </a:p>
          <a:p>
            <a:pPr>
              <a:lnSpc>
                <a:spcPct val="114999"/>
              </a:lnSpc>
              <a:spcBef>
                <a:spcPts val="1200"/>
              </a:spcBef>
            </a:pPr>
            <a:r>
              <a:rPr lang="en-US" sz="1200" b="1" err="1">
                <a:latin typeface="Roboto"/>
                <a:ea typeface="Roboto"/>
                <a:cs typeface="Roboto"/>
              </a:rPr>
              <a:t>Final_dataset</a:t>
            </a:r>
            <a:r>
              <a:rPr lang="en-US" sz="1200" b="1">
                <a:latin typeface="Roboto"/>
                <a:ea typeface="Roboto"/>
                <a:cs typeface="Roboto"/>
              </a:rPr>
              <a:t> – Enhancer_Zscore_Peakscore.csv </a:t>
            </a:r>
            <a:br>
              <a:rPr lang="en-US" sz="1200" b="1">
                <a:latin typeface="Roboto"/>
                <a:ea typeface="Roboto"/>
                <a:cs typeface="Roboto"/>
              </a:rPr>
            </a:br>
            <a:endParaRPr lang="en-US" sz="1200">
              <a:solidFill>
                <a:schemeClr val="dk1"/>
              </a:solidFill>
              <a:latin typeface="Roboto"/>
              <a:ea typeface="Roboto"/>
              <a:cs typeface="Roboto"/>
            </a:endParaRPr>
          </a:p>
          <a:p>
            <a:pPr marL="457200" lvl="0" indent="0" algn="l" rtl="0">
              <a:lnSpc>
                <a:spcPct val="115000"/>
              </a:lnSpc>
              <a:spcBef>
                <a:spcPts val="1200"/>
              </a:spcBef>
              <a:spcAft>
                <a:spcPts val="1200"/>
              </a:spcAft>
              <a:buNone/>
            </a:pPr>
            <a:endParaRPr lang="en-US" sz="1200">
              <a:solidFill>
                <a:schemeClr val="dk1"/>
              </a:solidFill>
              <a:latin typeface="Roboto"/>
              <a:ea typeface="Roboto"/>
              <a:cs typeface="Roboto"/>
              <a:sym typeface="Roboto"/>
            </a:endParaRPr>
          </a:p>
        </p:txBody>
      </p:sp>
      <p:grpSp>
        <p:nvGrpSpPr>
          <p:cNvPr id="2" name="Google Shape;183;p23">
            <a:extLst>
              <a:ext uri="{FF2B5EF4-FFF2-40B4-BE49-F238E27FC236}">
                <a16:creationId xmlns:a16="http://schemas.microsoft.com/office/drawing/2014/main" id="{60920A48-4C6D-A484-F946-C3E5A1AD5080}"/>
              </a:ext>
            </a:extLst>
          </p:cNvPr>
          <p:cNvGrpSpPr/>
          <p:nvPr/>
        </p:nvGrpSpPr>
        <p:grpSpPr>
          <a:xfrm>
            <a:off x="6541225" y="1268103"/>
            <a:ext cx="1594917" cy="975325"/>
            <a:chOff x="6221427" y="1407100"/>
            <a:chExt cx="1446900" cy="1509600"/>
          </a:xfrm>
        </p:grpSpPr>
        <p:sp>
          <p:nvSpPr>
            <p:cNvPr id="3" name="Google Shape;184;p23">
              <a:extLst>
                <a:ext uri="{FF2B5EF4-FFF2-40B4-BE49-F238E27FC236}">
                  <a16:creationId xmlns:a16="http://schemas.microsoft.com/office/drawing/2014/main" id="{3681543B-CC92-3306-2ECB-E13CACEAD05F}"/>
                </a:ext>
              </a:extLst>
            </p:cNvPr>
            <p:cNvSpPr/>
            <p:nvPr/>
          </p:nvSpPr>
          <p:spPr>
            <a:xfrm>
              <a:off x="6221427" y="1407100"/>
              <a:ext cx="1446900" cy="1509600"/>
            </a:xfrm>
            <a:prstGeom prst="ellipse">
              <a:avLst/>
            </a:prstGeom>
            <a:solidFill>
              <a:srgbClr val="155B5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 name="Google Shape;185;p23">
              <a:extLst>
                <a:ext uri="{FF2B5EF4-FFF2-40B4-BE49-F238E27FC236}">
                  <a16:creationId xmlns:a16="http://schemas.microsoft.com/office/drawing/2014/main" id="{D451A25E-FC8F-09CC-B0C9-85F7DC25FF00}"/>
                </a:ext>
              </a:extLst>
            </p:cNvPr>
            <p:cNvSpPr txBox="1"/>
            <p:nvPr/>
          </p:nvSpPr>
          <p:spPr>
            <a:xfrm>
              <a:off x="6367518" y="1627599"/>
              <a:ext cx="1154700" cy="1068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lnSpc>
                  <a:spcPct val="115000"/>
                </a:lnSpc>
                <a:spcBef>
                  <a:spcPts val="0"/>
                </a:spcBef>
                <a:spcAft>
                  <a:spcPts val="0"/>
                </a:spcAft>
                <a:buNone/>
              </a:pPr>
              <a:r>
                <a:rPr lang="en-US" sz="900">
                  <a:solidFill>
                    <a:srgbClr val="FFFFFF"/>
                  </a:solidFill>
                  <a:latin typeface="Roboto"/>
                  <a:ea typeface="Roboto"/>
                  <a:cs typeface="Roboto"/>
                  <a:sym typeface="Roboto"/>
                </a:rPr>
                <a:t>Epigenomic Profile Data (chemical modifications that affect gene activity)</a:t>
              </a:r>
              <a:endParaRPr lang="en-US" sz="900">
                <a:solidFill>
                  <a:srgbClr val="FFFFFF"/>
                </a:solidFill>
                <a:latin typeface="Roboto"/>
                <a:ea typeface="Roboto"/>
                <a:cs typeface="Roboto"/>
              </a:endParaRPr>
            </a:p>
          </p:txBody>
        </p:sp>
      </p:grpSp>
      <p:grpSp>
        <p:nvGrpSpPr>
          <p:cNvPr id="5" name="Google Shape;180;p23">
            <a:extLst>
              <a:ext uri="{FF2B5EF4-FFF2-40B4-BE49-F238E27FC236}">
                <a16:creationId xmlns:a16="http://schemas.microsoft.com/office/drawing/2014/main" id="{412D29B7-E57D-CC09-5CB2-06D39C5693EE}"/>
              </a:ext>
            </a:extLst>
          </p:cNvPr>
          <p:cNvGrpSpPr/>
          <p:nvPr/>
        </p:nvGrpSpPr>
        <p:grpSpPr>
          <a:xfrm>
            <a:off x="6881544" y="2409264"/>
            <a:ext cx="1035877" cy="837539"/>
            <a:chOff x="6521421" y="2698928"/>
            <a:chExt cx="1815900" cy="1815900"/>
          </a:xfrm>
        </p:grpSpPr>
        <p:sp>
          <p:nvSpPr>
            <p:cNvPr id="6" name="Google Shape;181;p23">
              <a:extLst>
                <a:ext uri="{FF2B5EF4-FFF2-40B4-BE49-F238E27FC236}">
                  <a16:creationId xmlns:a16="http://schemas.microsoft.com/office/drawing/2014/main" id="{5838EDF4-8986-0813-620C-28825086058C}"/>
                </a:ext>
              </a:extLst>
            </p:cNvPr>
            <p:cNvSpPr/>
            <p:nvPr/>
          </p:nvSpPr>
          <p:spPr>
            <a:xfrm>
              <a:off x="6521421" y="2698928"/>
              <a:ext cx="1815900" cy="1815900"/>
            </a:xfrm>
            <a:prstGeom prst="ellipse">
              <a:avLst/>
            </a:prstGeom>
            <a:solidFill>
              <a:srgbClr val="1B786F"/>
            </a:solidFill>
            <a:ln>
              <a:noFill/>
            </a:ln>
            <a:effectLst>
              <a:outerShdw blurRad="228600" dist="50800" dir="5400000" algn="tl" rotWithShape="0">
                <a:srgbClr val="000000">
                  <a:alpha val="54900"/>
                </a:srgbClr>
              </a:outerShdw>
            </a:effectLst>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 name="Google Shape;182;p23">
              <a:extLst>
                <a:ext uri="{FF2B5EF4-FFF2-40B4-BE49-F238E27FC236}">
                  <a16:creationId xmlns:a16="http://schemas.microsoft.com/office/drawing/2014/main" id="{4B1B9C1C-4793-3E75-C536-DDA81BEDE20D}"/>
                </a:ext>
              </a:extLst>
            </p:cNvPr>
            <p:cNvSpPr txBox="1"/>
            <p:nvPr/>
          </p:nvSpPr>
          <p:spPr>
            <a:xfrm>
              <a:off x="6718875" y="3065638"/>
              <a:ext cx="1382400" cy="954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lnSpc>
                  <a:spcPct val="115000"/>
                </a:lnSpc>
                <a:spcBef>
                  <a:spcPts val="0"/>
                </a:spcBef>
                <a:spcAft>
                  <a:spcPts val="0"/>
                </a:spcAft>
                <a:buNone/>
              </a:pPr>
              <a:r>
                <a:rPr lang="en-US" sz="1000" b="1">
                  <a:solidFill>
                    <a:srgbClr val="FFFFFF"/>
                  </a:solidFill>
                  <a:latin typeface="Roboto"/>
                  <a:ea typeface="Roboto"/>
                  <a:cs typeface="Roboto"/>
                  <a:sym typeface="Roboto"/>
                </a:rPr>
                <a:t>Prediction Factors</a:t>
              </a:r>
              <a:endParaRPr lang="en-US" sz="1000" b="1">
                <a:solidFill>
                  <a:srgbClr val="FFFFFF"/>
                </a:solidFill>
                <a:latin typeface="Roboto"/>
                <a:ea typeface="Roboto"/>
                <a:cs typeface="Roboto"/>
              </a:endParaRPr>
            </a:p>
          </p:txBody>
        </p:sp>
      </p:grpSp>
      <p:grpSp>
        <p:nvGrpSpPr>
          <p:cNvPr id="8" name="Google Shape;186;p23">
            <a:extLst>
              <a:ext uri="{FF2B5EF4-FFF2-40B4-BE49-F238E27FC236}">
                <a16:creationId xmlns:a16="http://schemas.microsoft.com/office/drawing/2014/main" id="{C538667B-F674-BA9E-0A17-40FEF5CA7869}"/>
              </a:ext>
            </a:extLst>
          </p:cNvPr>
          <p:cNvGrpSpPr/>
          <p:nvPr/>
        </p:nvGrpSpPr>
        <p:grpSpPr>
          <a:xfrm>
            <a:off x="5724268" y="3081600"/>
            <a:ext cx="1388335" cy="971685"/>
            <a:chOff x="5184083" y="3277319"/>
            <a:chExt cx="1068600" cy="1068600"/>
          </a:xfrm>
        </p:grpSpPr>
        <p:sp>
          <p:nvSpPr>
            <p:cNvPr id="9" name="Google Shape;187;p23">
              <a:extLst>
                <a:ext uri="{FF2B5EF4-FFF2-40B4-BE49-F238E27FC236}">
                  <a16:creationId xmlns:a16="http://schemas.microsoft.com/office/drawing/2014/main" id="{43346A80-DB31-E51D-0D07-43401EC50EF6}"/>
                </a:ext>
              </a:extLst>
            </p:cNvPr>
            <p:cNvSpPr/>
            <p:nvPr/>
          </p:nvSpPr>
          <p:spPr>
            <a:xfrm>
              <a:off x="5184083" y="3277319"/>
              <a:ext cx="1068600" cy="1068600"/>
            </a:xfrm>
            <a:prstGeom prst="ellipse">
              <a:avLst/>
            </a:prstGeom>
            <a:solidFill>
              <a:srgbClr val="155B5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188;p23">
              <a:extLst>
                <a:ext uri="{FF2B5EF4-FFF2-40B4-BE49-F238E27FC236}">
                  <a16:creationId xmlns:a16="http://schemas.microsoft.com/office/drawing/2014/main" id="{37C8B7A4-B1F1-EF83-8439-821CB82D31DB}"/>
                </a:ext>
              </a:extLst>
            </p:cNvPr>
            <p:cNvSpPr txBox="1"/>
            <p:nvPr/>
          </p:nvSpPr>
          <p:spPr>
            <a:xfrm>
              <a:off x="5317391" y="3445553"/>
              <a:ext cx="782100" cy="832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lnSpc>
                  <a:spcPct val="115000"/>
                </a:lnSpc>
                <a:spcBef>
                  <a:spcPts val="0"/>
                </a:spcBef>
                <a:spcAft>
                  <a:spcPts val="0"/>
                </a:spcAft>
                <a:buNone/>
              </a:pPr>
              <a:r>
                <a:rPr lang="en-US" sz="1000">
                  <a:solidFill>
                    <a:srgbClr val="FFFFFF"/>
                  </a:solidFill>
                  <a:latin typeface="Roboto"/>
                  <a:ea typeface="Roboto"/>
                  <a:cs typeface="Roboto"/>
                  <a:sym typeface="Roboto"/>
                </a:rPr>
                <a:t>TF Binding Data (How TF interact with DNA?)</a:t>
              </a:r>
              <a:endParaRPr lang="en-US" sz="1000">
                <a:solidFill>
                  <a:srgbClr val="FFFFFF"/>
                </a:solidFill>
                <a:latin typeface="Roboto"/>
                <a:ea typeface="Roboto"/>
                <a:cs typeface="Roboto"/>
              </a:endParaRPr>
            </a:p>
          </p:txBody>
        </p:sp>
      </p:grpSp>
      <p:grpSp>
        <p:nvGrpSpPr>
          <p:cNvPr id="11" name="Google Shape;189;p23">
            <a:extLst>
              <a:ext uri="{FF2B5EF4-FFF2-40B4-BE49-F238E27FC236}">
                <a16:creationId xmlns:a16="http://schemas.microsoft.com/office/drawing/2014/main" id="{F0F53A3E-61CF-C9C5-A0CA-575713462AA7}"/>
              </a:ext>
            </a:extLst>
          </p:cNvPr>
          <p:cNvGrpSpPr/>
          <p:nvPr/>
        </p:nvGrpSpPr>
        <p:grpSpPr>
          <a:xfrm>
            <a:off x="7658867" y="3081600"/>
            <a:ext cx="1385382" cy="1082469"/>
            <a:chOff x="7444535" y="3269489"/>
            <a:chExt cx="1068600" cy="1068600"/>
          </a:xfrm>
        </p:grpSpPr>
        <p:sp>
          <p:nvSpPr>
            <p:cNvPr id="12" name="Google Shape;190;p23">
              <a:extLst>
                <a:ext uri="{FF2B5EF4-FFF2-40B4-BE49-F238E27FC236}">
                  <a16:creationId xmlns:a16="http://schemas.microsoft.com/office/drawing/2014/main" id="{86D1ABAA-F92A-2552-ECB7-F1843F151B7A}"/>
                </a:ext>
              </a:extLst>
            </p:cNvPr>
            <p:cNvSpPr/>
            <p:nvPr/>
          </p:nvSpPr>
          <p:spPr>
            <a:xfrm>
              <a:off x="7444535" y="3269489"/>
              <a:ext cx="1068600" cy="1068600"/>
            </a:xfrm>
            <a:prstGeom prst="ellipse">
              <a:avLst/>
            </a:prstGeom>
            <a:solidFill>
              <a:srgbClr val="155B5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191;p23">
              <a:extLst>
                <a:ext uri="{FF2B5EF4-FFF2-40B4-BE49-F238E27FC236}">
                  <a16:creationId xmlns:a16="http://schemas.microsoft.com/office/drawing/2014/main" id="{DA7856B0-FFCB-2C2D-712A-DB02F3C845DC}"/>
                </a:ext>
              </a:extLst>
            </p:cNvPr>
            <p:cNvSpPr txBox="1"/>
            <p:nvPr/>
          </p:nvSpPr>
          <p:spPr>
            <a:xfrm>
              <a:off x="7584787" y="3437710"/>
              <a:ext cx="775200" cy="81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lnSpc>
                  <a:spcPct val="115000"/>
                </a:lnSpc>
                <a:spcBef>
                  <a:spcPts val="0"/>
                </a:spcBef>
                <a:spcAft>
                  <a:spcPts val="0"/>
                </a:spcAft>
                <a:buNone/>
              </a:pPr>
              <a:r>
                <a:rPr lang="en-US" sz="900">
                  <a:solidFill>
                    <a:srgbClr val="FFFFFF"/>
                  </a:solidFill>
                  <a:latin typeface="Roboto"/>
                  <a:ea typeface="Roboto"/>
                  <a:cs typeface="Roboto"/>
                  <a:sym typeface="Roboto"/>
                </a:rPr>
                <a:t>Motif Score data (patterns in DNA that predict where TF will bind)</a:t>
              </a:r>
              <a:endParaRPr lang="en-US" sz="900">
                <a:solidFill>
                  <a:srgbClr val="FFFFFF"/>
                </a:solidFill>
                <a:latin typeface="Roboto"/>
                <a:ea typeface="Roboto"/>
                <a:cs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492300-3763-B1DE-D1B1-7F172DD3B98C}"/>
              </a:ext>
            </a:extLst>
          </p:cNvPr>
          <p:cNvSpPr>
            <a:spLocks noGrp="1"/>
          </p:cNvSpPr>
          <p:nvPr>
            <p:ph type="body" idx="1"/>
          </p:nvPr>
        </p:nvSpPr>
        <p:spPr>
          <a:xfrm>
            <a:off x="202525" y="895707"/>
            <a:ext cx="8738557" cy="3965722"/>
          </a:xfrm>
        </p:spPr>
        <p:txBody>
          <a:bodyPr spcFirstLastPara="1" wrap="square" lIns="68575" tIns="34275" rIns="68575" bIns="34275" anchor="t" anchorCtr="0">
            <a:noAutofit/>
          </a:bodyPr>
          <a:lstStyle/>
          <a:p>
            <a:pPr>
              <a:buFont typeface="Wingdings,Sans-Serif" panose="05000000000000000000" pitchFamily="2" charset="2"/>
              <a:buChar char="Ø"/>
            </a:pPr>
            <a:endParaRPr lang="en-US" sz="1300">
              <a:solidFill>
                <a:schemeClr val="tx1"/>
              </a:solidFill>
              <a:cs typeface="Arial"/>
            </a:endParaRPr>
          </a:p>
          <a:p>
            <a:pPr>
              <a:buFont typeface="Wingdings,Sans-Serif" panose="05000000000000000000" pitchFamily="2" charset="2"/>
              <a:buChar char="Ø"/>
            </a:pPr>
            <a:r>
              <a:rPr lang="en-US" sz="1300">
                <a:solidFill>
                  <a:schemeClr val="tx1"/>
                </a:solidFill>
                <a:cs typeface="Arial"/>
              </a:rPr>
              <a:t>Combined File 01 and 03 and then they were intersected with file 02.</a:t>
            </a:r>
            <a:endParaRPr lang="en-US">
              <a:solidFill>
                <a:schemeClr val="tx1"/>
              </a:solidFill>
            </a:endParaRPr>
          </a:p>
          <a:p>
            <a:pPr>
              <a:buFont typeface="Wingdings,Sans-Serif" panose="05000000000000000000" pitchFamily="2" charset="2"/>
              <a:buChar char="Ø"/>
            </a:pPr>
            <a:r>
              <a:rPr lang="en-US" sz="1300" b="1" err="1">
                <a:solidFill>
                  <a:schemeClr val="tx1"/>
                </a:solidFill>
                <a:cs typeface="Arial"/>
              </a:rPr>
              <a:t>Z_score</a:t>
            </a:r>
            <a:r>
              <a:rPr lang="en-US" sz="1300" b="1">
                <a:solidFill>
                  <a:schemeClr val="tx1"/>
                </a:solidFill>
                <a:cs typeface="Arial"/>
              </a:rPr>
              <a:t> data before generating embedding:</a:t>
            </a:r>
            <a:endParaRPr lang="en-US" sz="1300">
              <a:solidFill>
                <a:schemeClr val="tx1"/>
              </a:solidFill>
              <a:cs typeface="Arial"/>
            </a:endParaRPr>
          </a:p>
          <a:p>
            <a:pPr marL="139700" indent="0">
              <a:buNone/>
            </a:pPr>
            <a:r>
              <a:rPr lang="en-US" sz="1300">
                <a:solidFill>
                  <a:schemeClr val="tx1"/>
                </a:solidFill>
                <a:cs typeface="Arial"/>
              </a:rPr>
              <a:t>The dataset </a:t>
            </a:r>
            <a:r>
              <a:rPr lang="en-US" sz="1300" err="1">
                <a:solidFill>
                  <a:schemeClr val="tx1"/>
                </a:solidFill>
                <a:cs typeface="Arial"/>
              </a:rPr>
              <a:t>Enhancers_zscores_peakscores</a:t>
            </a:r>
            <a:r>
              <a:rPr lang="en-US" sz="1300">
                <a:solidFill>
                  <a:schemeClr val="tx1"/>
                </a:solidFill>
                <a:cs typeface="Arial"/>
              </a:rPr>
              <a:t> contains 45,481 sequences and 1,007 columns (features), indicating that each sample is described by 1,007 z-score or peak score features related to enhancers. </a:t>
            </a:r>
          </a:p>
          <a:p>
            <a:pPr>
              <a:buFont typeface="Noto Sans Symbols" panose="05000000000000000000" pitchFamily="2" charset="2"/>
              <a:buChar char="●"/>
            </a:pPr>
            <a:endParaRPr lang="en-US" sz="1300">
              <a:solidFill>
                <a:schemeClr val="tx1"/>
              </a:solidFill>
              <a:cs typeface="Arial"/>
            </a:endParaRPr>
          </a:p>
          <a:p>
            <a:pPr>
              <a:buFont typeface="Wingdings" panose="05000000000000000000" pitchFamily="2" charset="2"/>
              <a:buChar char="Ø"/>
            </a:pPr>
            <a:endParaRPr lang="en-US" sz="1300" b="1">
              <a:solidFill>
                <a:schemeClr val="tx1"/>
              </a:solidFill>
            </a:endParaRPr>
          </a:p>
          <a:p>
            <a:pPr>
              <a:buFont typeface="Wingdings" panose="05000000000000000000" pitchFamily="2" charset="2"/>
              <a:buChar char="Ø"/>
            </a:pPr>
            <a:r>
              <a:rPr lang="en-US" sz="1300" b="1" err="1">
                <a:solidFill>
                  <a:schemeClr val="tx1"/>
                </a:solidFill>
              </a:rPr>
              <a:t>Z_score</a:t>
            </a:r>
            <a:r>
              <a:rPr lang="en-US" sz="1300" b="1">
                <a:solidFill>
                  <a:schemeClr val="tx1"/>
                </a:solidFill>
              </a:rPr>
              <a:t> data along with embedding generated using </a:t>
            </a:r>
            <a:r>
              <a:rPr lang="en-US" sz="1300" b="1" err="1">
                <a:solidFill>
                  <a:schemeClr val="tx1"/>
                </a:solidFill>
              </a:rPr>
              <a:t>Biobart</a:t>
            </a:r>
            <a:r>
              <a:rPr lang="en-US" sz="1300" b="1">
                <a:solidFill>
                  <a:schemeClr val="tx1"/>
                </a:solidFill>
              </a:rPr>
              <a:t>: </a:t>
            </a:r>
            <a:endParaRPr lang="en-US" sz="1300">
              <a:solidFill>
                <a:schemeClr val="tx1"/>
              </a:solidFill>
            </a:endParaRPr>
          </a:p>
          <a:p>
            <a:pPr marL="139700" indent="0">
              <a:buNone/>
            </a:pPr>
            <a:r>
              <a:rPr kumimoji="0" lang="en-US" altLang="en-US" sz="1300" b="0" i="0" u="none" strike="noStrike" cap="none" normalizeH="0" baseline="0">
                <a:ln>
                  <a:noFill/>
                </a:ln>
                <a:solidFill>
                  <a:schemeClr val="tx1"/>
                </a:solidFill>
                <a:effectLst/>
              </a:rPr>
              <a:t>The dataset embeddings.csv contains 45,481 sequences, each encoded as a 1,775-dimensional numerical vector representing its features</a:t>
            </a:r>
            <a:r>
              <a:rPr lang="en-US" altLang="en-US" sz="1300">
                <a:solidFill>
                  <a:schemeClr val="tx1"/>
                </a:solidFill>
              </a:rPr>
              <a:t>. </a:t>
            </a:r>
            <a:endParaRPr lang="en-US" altLang="en-US" sz="1300" b="0" i="0" u="none" strike="noStrike" cap="none" normalizeH="0" baseline="0">
              <a:ln>
                <a:noFill/>
              </a:ln>
              <a:solidFill>
                <a:schemeClr val="tx1"/>
              </a:solidFill>
              <a:effectLst/>
            </a:endParaRPr>
          </a:p>
          <a:p>
            <a:pPr marL="139700" indent="0">
              <a:buNone/>
            </a:pPr>
            <a:endParaRPr lang="en-US" sz="1300">
              <a:solidFill>
                <a:schemeClr val="tx1"/>
              </a:solidFill>
            </a:endParaRPr>
          </a:p>
          <a:p>
            <a:pPr marL="139700" indent="0">
              <a:buNone/>
            </a:pPr>
            <a:endParaRPr lang="en-US" altLang="en-US" sz="1300">
              <a:solidFill>
                <a:schemeClr val="tx1"/>
              </a:solidFill>
            </a:endParaRPr>
          </a:p>
          <a:p>
            <a:pPr>
              <a:buFont typeface="Wingdings" panose="05000000000000000000" pitchFamily="2" charset="2"/>
              <a:buChar char="Ø"/>
            </a:pPr>
            <a:r>
              <a:rPr kumimoji="0" lang="en-US" altLang="en-US" sz="1300" b="0" i="0" u="none" strike="noStrike" cap="none" normalizeH="0" baseline="0">
                <a:ln>
                  <a:noFill/>
                </a:ln>
                <a:solidFill>
                  <a:schemeClr val="tx1"/>
                </a:solidFill>
                <a:effectLst/>
              </a:rPr>
              <a:t>Following the subtraction of the enhancer z-score features from the embedding features, the</a:t>
            </a:r>
            <a:r>
              <a:rPr lang="en-US" altLang="en-US" sz="1300">
                <a:solidFill>
                  <a:schemeClr val="tx1"/>
                </a:solidFill>
              </a:rPr>
              <a:t> number</a:t>
            </a:r>
            <a:r>
              <a:rPr kumimoji="0" lang="en-US" altLang="en-US" sz="1300" b="0" i="0" u="none" strike="noStrike" cap="none" normalizeH="0" baseline="0">
                <a:ln>
                  <a:noFill/>
                </a:ln>
                <a:solidFill>
                  <a:schemeClr val="tx1"/>
                </a:solidFill>
                <a:effectLst/>
              </a:rPr>
              <a:t> </a:t>
            </a:r>
            <a:r>
              <a:rPr lang="en-US" altLang="en-US" sz="1300">
                <a:solidFill>
                  <a:schemeClr val="tx1"/>
                </a:solidFill>
              </a:rPr>
              <a:t>of </a:t>
            </a:r>
            <a:r>
              <a:rPr kumimoji="0" lang="en-US" altLang="en-US" sz="1300" b="0" i="0" u="none" strike="noStrike" cap="none" normalizeH="0" baseline="0">
                <a:ln>
                  <a:noFill/>
                </a:ln>
                <a:solidFill>
                  <a:schemeClr val="tx1"/>
                </a:solidFill>
                <a:effectLst/>
              </a:rPr>
              <a:t>columns of embedding features are 768</a:t>
            </a:r>
            <a:r>
              <a:rPr lang="en-US" altLang="en-US" sz="1300">
                <a:solidFill>
                  <a:schemeClr val="tx1"/>
                </a:solidFill>
              </a:rPr>
              <a:t> (</a:t>
            </a:r>
            <a:r>
              <a:rPr lang="en-US" sz="1300">
                <a:solidFill>
                  <a:schemeClr val="tx1"/>
                </a:solidFill>
                <a:cs typeface="Arial"/>
              </a:rPr>
              <a:t>1,775 − 1,007)</a:t>
            </a:r>
            <a:r>
              <a:rPr lang="en-US" altLang="en-US" sz="1300">
                <a:solidFill>
                  <a:schemeClr val="tx1"/>
                </a:solidFill>
              </a:rPr>
              <a:t>.</a:t>
            </a:r>
            <a:endParaRPr lang="en-US" altLang="en-US" sz="1300" b="0" i="0" u="none" strike="noStrike" cap="none" normalizeH="0" baseline="0">
              <a:ln>
                <a:noFill/>
              </a:ln>
              <a:solidFill>
                <a:schemeClr val="tx1"/>
              </a:solidFill>
              <a:effectLst/>
            </a:endParaRPr>
          </a:p>
          <a:p>
            <a:pPr marL="139700" indent="0">
              <a:buNone/>
            </a:pPr>
            <a:endParaRPr lang="en-US" sz="1300" b="1">
              <a:solidFill>
                <a:schemeClr val="tx1"/>
              </a:solidFill>
            </a:endParaRPr>
          </a:p>
          <a:p>
            <a:pPr>
              <a:buFont typeface="Wingdings" panose="05000000000000000000" pitchFamily="2" charset="2"/>
              <a:buChar char="Ø"/>
            </a:pPr>
            <a:endParaRPr lang="en-IN" sz="1300">
              <a:solidFill>
                <a:schemeClr val="tx1"/>
              </a:solidFill>
            </a:endParaRPr>
          </a:p>
          <a:p>
            <a:pPr>
              <a:buFont typeface="Wingdings" panose="05000000000000000000" pitchFamily="2" charset="2"/>
              <a:buChar char="Ø"/>
            </a:pPr>
            <a:endParaRPr lang="en-IN" sz="1300">
              <a:solidFill>
                <a:schemeClr val="tx1"/>
              </a:solidFill>
            </a:endParaRPr>
          </a:p>
          <a:p>
            <a:pPr>
              <a:buFont typeface="Wingdings" panose="05000000000000000000" pitchFamily="2" charset="2"/>
              <a:buChar char="Ø"/>
            </a:pPr>
            <a:endParaRPr lang="en-IN" sz="1300">
              <a:solidFill>
                <a:schemeClr val="tx1"/>
              </a:solidFill>
            </a:endParaRPr>
          </a:p>
        </p:txBody>
      </p:sp>
      <p:pic>
        <p:nvPicPr>
          <p:cNvPr id="7" name="Picture 6">
            <a:extLst>
              <a:ext uri="{FF2B5EF4-FFF2-40B4-BE49-F238E27FC236}">
                <a16:creationId xmlns:a16="http://schemas.microsoft.com/office/drawing/2014/main" id="{02D89145-BD7A-B0C2-4742-B327D5932A12}"/>
              </a:ext>
            </a:extLst>
          </p:cNvPr>
          <p:cNvPicPr>
            <a:picLocks noChangeAspect="1"/>
          </p:cNvPicPr>
          <p:nvPr/>
        </p:nvPicPr>
        <p:blipFill>
          <a:blip r:embed="rId2"/>
          <a:stretch>
            <a:fillRect/>
          </a:stretch>
        </p:blipFill>
        <p:spPr>
          <a:xfrm>
            <a:off x="1505310" y="3600877"/>
            <a:ext cx="5070763" cy="406796"/>
          </a:xfrm>
          <a:prstGeom prst="rect">
            <a:avLst/>
          </a:prstGeom>
        </p:spPr>
      </p:pic>
      <p:sp>
        <p:nvSpPr>
          <p:cNvPr id="6" name="Google Shape;224;p26">
            <a:extLst>
              <a:ext uri="{FF2B5EF4-FFF2-40B4-BE49-F238E27FC236}">
                <a16:creationId xmlns:a16="http://schemas.microsoft.com/office/drawing/2014/main" id="{8983C5F3-D3AA-0E72-E500-1EB62F255E5A}"/>
              </a:ext>
            </a:extLst>
          </p:cNvPr>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US" b="1"/>
              <a:t>DATA PREPARATION </a:t>
            </a:r>
          </a:p>
        </p:txBody>
      </p:sp>
      <p:pic>
        <p:nvPicPr>
          <p:cNvPr id="8" name="Picture 7">
            <a:extLst>
              <a:ext uri="{FF2B5EF4-FFF2-40B4-BE49-F238E27FC236}">
                <a16:creationId xmlns:a16="http://schemas.microsoft.com/office/drawing/2014/main" id="{AAD0DD7F-A7F4-2E01-6D4A-B3C37C5009CC}"/>
              </a:ext>
            </a:extLst>
          </p:cNvPr>
          <p:cNvPicPr>
            <a:picLocks noChangeAspect="1"/>
          </p:cNvPicPr>
          <p:nvPr/>
        </p:nvPicPr>
        <p:blipFill>
          <a:blip r:embed="rId3"/>
          <a:stretch>
            <a:fillRect/>
          </a:stretch>
        </p:blipFill>
        <p:spPr>
          <a:xfrm>
            <a:off x="1505219" y="2257875"/>
            <a:ext cx="5249353" cy="401308"/>
          </a:xfrm>
          <a:prstGeom prst="rect">
            <a:avLst/>
          </a:prstGeom>
        </p:spPr>
      </p:pic>
    </p:spTree>
    <p:extLst>
      <p:ext uri="{BB962C8B-B14F-4D97-AF65-F5344CB8AC3E}">
        <p14:creationId xmlns:p14="http://schemas.microsoft.com/office/powerpoint/2010/main" val="2093856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0E5E6F-CC04-9BD1-C839-77A4500719C3}"/>
              </a:ext>
            </a:extLst>
          </p:cNvPr>
          <p:cNvSpPr>
            <a:spLocks noGrp="1"/>
          </p:cNvSpPr>
          <p:nvPr>
            <p:ph type="body" idx="4294967295"/>
          </p:nvPr>
        </p:nvSpPr>
        <p:spPr>
          <a:xfrm>
            <a:off x="159158" y="1027292"/>
            <a:ext cx="4982112" cy="2712964"/>
          </a:xfrm>
        </p:spPr>
        <p:txBody>
          <a:bodyPr anchor="t">
            <a:normAutofit/>
          </a:bodyPr>
          <a:lstStyle/>
          <a:p>
            <a:pPr marL="323850" indent="-228600">
              <a:spcBef>
                <a:spcPts val="0"/>
              </a:spcBef>
              <a:spcAft>
                <a:spcPts val="600"/>
              </a:spcAft>
              <a:buClr>
                <a:srgbClr val="000000"/>
              </a:buClr>
              <a:buAutoNum type="arabicPeriod"/>
            </a:pPr>
            <a:r>
              <a:rPr lang="en-US" sz="1200" b="1" i="0" u="none" strike="noStrike" cap="none">
                <a:solidFill>
                  <a:schemeClr val="tx1"/>
                </a:solidFill>
                <a:effectLst/>
              </a:rPr>
              <a:t>The histogram of Z-scores </a:t>
            </a:r>
            <a:r>
              <a:rPr lang="en-US" sz="1200" b="0" i="0" u="none" strike="noStrike" cap="none">
                <a:solidFill>
                  <a:schemeClr val="tx1"/>
                </a:solidFill>
                <a:effectLst/>
              </a:rPr>
              <a:t>demonstrates a</a:t>
            </a:r>
            <a:r>
              <a:rPr kumimoji="0" lang="en-US" altLang="en-US" sz="1200" b="0" i="0" u="none" strike="noStrike" cap="none" normalizeH="0" baseline="0">
                <a:ln>
                  <a:noFill/>
                </a:ln>
                <a:solidFill>
                  <a:schemeClr val="tx1"/>
                </a:solidFill>
                <a:effectLst/>
              </a:rPr>
              <a:t> normal distribution with a few outliers is shown by the Z-score distribution's strong peak and symmetry around 0.</a:t>
            </a:r>
            <a:endParaRPr lang="en-US"/>
          </a:p>
          <a:p>
            <a:pPr marL="139700" indent="0">
              <a:spcBef>
                <a:spcPts val="0"/>
              </a:spcBef>
              <a:spcAft>
                <a:spcPts val="600"/>
              </a:spcAft>
              <a:buClr>
                <a:srgbClr val="000000"/>
              </a:buClr>
              <a:buNone/>
            </a:pPr>
            <a:r>
              <a:rPr lang="en-US" altLang="en-US" sz="1200">
                <a:solidFill>
                  <a:schemeClr val="tx1"/>
                </a:solidFill>
              </a:rPr>
              <a:t>  </a:t>
            </a:r>
            <a:r>
              <a:rPr kumimoji="0" lang="en-US" altLang="en-US" sz="1200" b="0" i="0" u="none" strike="noStrike" cap="none" normalizeH="0" baseline="0" err="1">
                <a:ln>
                  <a:noFill/>
                </a:ln>
                <a:solidFill>
                  <a:schemeClr val="tx1"/>
                </a:solidFill>
                <a:effectLst/>
              </a:rPr>
              <a:t>Z_score</a:t>
            </a:r>
            <a:r>
              <a:rPr kumimoji="0" lang="en-US" altLang="en-US" sz="1200" b="0" i="0" u="none" strike="noStrike" cap="none" normalizeH="0" baseline="0">
                <a:ln>
                  <a:noFill/>
                </a:ln>
                <a:solidFill>
                  <a:schemeClr val="tx1"/>
                </a:solidFill>
                <a:effectLst/>
              </a:rPr>
              <a:t> &gt;= 2.0 is “Highly </a:t>
            </a:r>
            <a:r>
              <a:rPr lang="en-US" altLang="en-US" sz="1200">
                <a:solidFill>
                  <a:schemeClr val="tx1"/>
                </a:solidFill>
              </a:rPr>
              <a:t>S</a:t>
            </a:r>
            <a:r>
              <a:rPr kumimoji="0" lang="en-US" altLang="en-US" sz="1200" b="0" i="0" u="none" strike="noStrike" cap="none" normalizeH="0" baseline="0">
                <a:ln>
                  <a:noFill/>
                </a:ln>
                <a:solidFill>
                  <a:schemeClr val="tx1"/>
                </a:solidFill>
                <a:effectLst/>
              </a:rPr>
              <a:t>ignificant” &amp; </a:t>
            </a:r>
            <a:r>
              <a:rPr kumimoji="0" lang="en-US" altLang="en-US" sz="1200" b="0" i="0" u="none" strike="noStrike" cap="none" normalizeH="0" baseline="0" err="1">
                <a:ln>
                  <a:noFill/>
                </a:ln>
                <a:solidFill>
                  <a:schemeClr val="tx1"/>
                </a:solidFill>
                <a:effectLst/>
              </a:rPr>
              <a:t>Z_score</a:t>
            </a:r>
            <a:r>
              <a:rPr kumimoji="0" lang="en-US" altLang="en-US" sz="1200" b="0" i="0" u="none" strike="noStrike" cap="none" normalizeH="0" baseline="0">
                <a:ln>
                  <a:noFill/>
                </a:ln>
                <a:solidFill>
                  <a:schemeClr val="tx1"/>
                </a:solidFill>
                <a:effectLst/>
              </a:rPr>
              <a:t> &lt; 2.0 is “</a:t>
            </a:r>
            <a:r>
              <a:rPr lang="en-US" altLang="en-US" sz="1200">
                <a:solidFill>
                  <a:schemeClr val="tx1"/>
                </a:solidFill>
              </a:rPr>
              <a:t>N</a:t>
            </a:r>
            <a:r>
              <a:rPr kumimoji="0" lang="en-US" altLang="en-US" sz="1200" b="0" i="0" u="none" strike="noStrike" cap="none" normalizeH="0" baseline="0">
                <a:ln>
                  <a:noFill/>
                </a:ln>
                <a:solidFill>
                  <a:schemeClr val="tx1"/>
                </a:solidFill>
                <a:effectLst/>
              </a:rPr>
              <a:t>on-Significant</a:t>
            </a:r>
            <a:r>
              <a:rPr lang="en-US" altLang="en-US" sz="1200">
                <a:solidFill>
                  <a:schemeClr val="tx1"/>
                </a:solidFill>
              </a:rPr>
              <a:t>”.</a:t>
            </a:r>
            <a:endParaRPr lang="en-US">
              <a:solidFill>
                <a:schemeClr val="tx1"/>
              </a:solidFill>
            </a:endParaRPr>
          </a:p>
          <a:p>
            <a:pPr marL="139700" indent="0">
              <a:spcBef>
                <a:spcPts val="0"/>
              </a:spcBef>
              <a:spcAft>
                <a:spcPts val="600"/>
              </a:spcAft>
              <a:buNone/>
            </a:pPr>
            <a:endParaRPr lang="en-US" altLang="en-US" sz="1200">
              <a:solidFill>
                <a:schemeClr val="tx1"/>
              </a:solidFill>
            </a:endParaRPr>
          </a:p>
          <a:p>
            <a:pPr marL="139700" indent="0">
              <a:spcBef>
                <a:spcPts val="0"/>
              </a:spcBef>
              <a:spcAft>
                <a:spcPts val="600"/>
              </a:spcAft>
              <a:buClr>
                <a:srgbClr val="000000"/>
              </a:buClr>
              <a:buNone/>
            </a:pPr>
            <a:r>
              <a:rPr lang="en-US" sz="1200">
                <a:solidFill>
                  <a:schemeClr val="tx1"/>
                </a:solidFill>
              </a:rPr>
              <a:t>2.  </a:t>
            </a:r>
            <a:r>
              <a:rPr lang="en-US" sz="1200" b="1">
                <a:solidFill>
                  <a:schemeClr val="tx1"/>
                </a:solidFill>
              </a:rPr>
              <a:t>Boxplot of Z-score: </a:t>
            </a:r>
            <a:r>
              <a:rPr lang="en-US" sz="1200" b="0" i="0">
                <a:solidFill>
                  <a:schemeClr val="tx1"/>
                </a:solidFill>
                <a:effectLst/>
              </a:rPr>
              <a:t>The analysis revealed that the dataset exhibits a consistent distribution with </a:t>
            </a:r>
            <a:r>
              <a:rPr lang="en-US" sz="1200" b="1" i="0">
                <a:solidFill>
                  <a:schemeClr val="tx1"/>
                </a:solidFill>
                <a:effectLst/>
              </a:rPr>
              <a:t>no outliers</a:t>
            </a:r>
            <a:r>
              <a:rPr lang="en-US" sz="1200" b="0" i="0">
                <a:solidFill>
                  <a:schemeClr val="tx1"/>
                </a:solidFill>
                <a:effectLst/>
              </a:rPr>
              <a:t> present, ensuring robust and reliable model training.</a:t>
            </a:r>
            <a:endParaRPr lang="en-IN" sz="1200">
              <a:solidFill>
                <a:schemeClr val="tx1"/>
              </a:solidFill>
            </a:endParaRPr>
          </a:p>
          <a:p>
            <a:pPr marL="139700" indent="0">
              <a:spcBef>
                <a:spcPts val="0"/>
              </a:spcBef>
              <a:spcAft>
                <a:spcPts val="600"/>
              </a:spcAft>
              <a:buNone/>
            </a:pPr>
            <a:endParaRPr lang="en-US" sz="1200">
              <a:solidFill>
                <a:schemeClr val="tx1"/>
              </a:solidFill>
            </a:endParaRPr>
          </a:p>
          <a:p>
            <a:pPr marL="139700" indent="0">
              <a:spcBef>
                <a:spcPts val="0"/>
              </a:spcBef>
              <a:spcAft>
                <a:spcPts val="600"/>
              </a:spcAft>
              <a:buNone/>
            </a:pPr>
            <a:r>
              <a:rPr lang="en-US" sz="1200">
                <a:solidFill>
                  <a:schemeClr val="tx1"/>
                </a:solidFill>
              </a:rPr>
              <a:t>3. The </a:t>
            </a:r>
            <a:r>
              <a:rPr lang="en-US" sz="1200" err="1">
                <a:solidFill>
                  <a:schemeClr val="tx1"/>
                </a:solidFill>
              </a:rPr>
              <a:t>Z_score</a:t>
            </a:r>
            <a:r>
              <a:rPr lang="en-US" sz="1200">
                <a:solidFill>
                  <a:schemeClr val="tx1"/>
                </a:solidFill>
              </a:rPr>
              <a:t> value for 42853 sequences is less than 2.0 while the </a:t>
            </a:r>
            <a:r>
              <a:rPr lang="en-US" sz="1200" err="1">
                <a:solidFill>
                  <a:schemeClr val="tx1"/>
                </a:solidFill>
              </a:rPr>
              <a:t>Z_score</a:t>
            </a:r>
            <a:r>
              <a:rPr lang="en-US" sz="1200">
                <a:solidFill>
                  <a:schemeClr val="tx1"/>
                </a:solidFill>
              </a:rPr>
              <a:t> for 2630 sequences is more than 2.0 </a:t>
            </a:r>
          </a:p>
          <a:p>
            <a:pPr marL="139700" indent="0">
              <a:spcBef>
                <a:spcPts val="0"/>
              </a:spcBef>
              <a:spcAft>
                <a:spcPts val="600"/>
              </a:spcAft>
              <a:buNone/>
            </a:pPr>
            <a:endParaRPr lang="en-US" sz="1200" b="0" i="0" u="none" strike="noStrike" cap="none" normalizeH="0" baseline="0">
              <a:ln>
                <a:noFill/>
              </a:ln>
              <a:solidFill>
                <a:schemeClr val="tx1"/>
              </a:solidFill>
              <a:effectLst/>
            </a:endParaRPr>
          </a:p>
          <a:p>
            <a:pPr marL="139700" indent="0">
              <a:spcBef>
                <a:spcPts val="0"/>
              </a:spcBef>
              <a:spcAft>
                <a:spcPts val="600"/>
              </a:spcAft>
              <a:buClr>
                <a:srgbClr val="000000"/>
              </a:buClr>
              <a:buNone/>
            </a:pPr>
            <a:endParaRPr lang="en-US" sz="1200" b="0" i="0" u="none" strike="noStrike" cap="none">
              <a:solidFill>
                <a:schemeClr val="tx1"/>
              </a:solidFill>
              <a:effectLst/>
            </a:endParaRPr>
          </a:p>
          <a:p>
            <a:pPr marL="139700" indent="0">
              <a:spcBef>
                <a:spcPts val="0"/>
              </a:spcBef>
              <a:spcAft>
                <a:spcPts val="600"/>
              </a:spcAft>
              <a:buClr>
                <a:srgbClr val="000000"/>
              </a:buClr>
              <a:buNone/>
            </a:pPr>
            <a:endParaRPr lang="en-US" altLang="en-US" sz="1200" b="0" i="0" u="none" strike="noStrike" cap="none">
              <a:solidFill>
                <a:schemeClr val="tx1"/>
              </a:solidFill>
            </a:endParaRPr>
          </a:p>
          <a:p>
            <a:pPr marL="482600" indent="-342900">
              <a:spcBef>
                <a:spcPts val="0"/>
              </a:spcBef>
              <a:spcAft>
                <a:spcPts val="600"/>
              </a:spcAft>
              <a:buClr>
                <a:srgbClr val="000000"/>
              </a:buClr>
              <a:buAutoNum type="arabicPeriod"/>
            </a:pPr>
            <a:endParaRPr lang="en-US" sz="1200">
              <a:solidFill>
                <a:schemeClr val="tx1"/>
              </a:solidFill>
            </a:endParaRPr>
          </a:p>
          <a:p>
            <a:pPr marL="482600" indent="-342900">
              <a:spcBef>
                <a:spcPts val="0"/>
              </a:spcBef>
              <a:spcAft>
                <a:spcPts val="600"/>
              </a:spcAft>
              <a:buClr>
                <a:srgbClr val="000000"/>
              </a:buClr>
              <a:buAutoNum type="arabicPeriod"/>
            </a:pPr>
            <a:endParaRPr lang="en-US" sz="1200">
              <a:solidFill>
                <a:schemeClr val="tx1"/>
              </a:solidFill>
            </a:endParaRPr>
          </a:p>
        </p:txBody>
      </p:sp>
      <p:pic>
        <p:nvPicPr>
          <p:cNvPr id="5" name="Picture 4" descr="A graph of a distribution of z score&#10;&#10;AI-generated content may be incorrect.">
            <a:extLst>
              <a:ext uri="{FF2B5EF4-FFF2-40B4-BE49-F238E27FC236}">
                <a16:creationId xmlns:a16="http://schemas.microsoft.com/office/drawing/2014/main" id="{4B21A1D0-D99C-F4BD-BD8C-305172719E84}"/>
              </a:ext>
            </a:extLst>
          </p:cNvPr>
          <p:cNvPicPr>
            <a:picLocks noChangeAspect="1"/>
          </p:cNvPicPr>
          <p:nvPr/>
        </p:nvPicPr>
        <p:blipFill>
          <a:blip r:embed="rId2"/>
          <a:srcRect l="4057" r="11442" b="-4"/>
          <a:stretch/>
        </p:blipFill>
        <p:spPr>
          <a:xfrm>
            <a:off x="5343379" y="1035434"/>
            <a:ext cx="2876061" cy="1944963"/>
          </a:xfrm>
          <a:prstGeom prst="rect">
            <a:avLst/>
          </a:prstGeom>
          <a:noFill/>
          <a:ln>
            <a:noFill/>
          </a:ln>
        </p:spPr>
      </p:pic>
      <p:pic>
        <p:nvPicPr>
          <p:cNvPr id="11" name="Picture 10" descr="A computer screen shot of a black screen&#10;&#10;AI-generated content may be incorrect.">
            <a:extLst>
              <a:ext uri="{FF2B5EF4-FFF2-40B4-BE49-F238E27FC236}">
                <a16:creationId xmlns:a16="http://schemas.microsoft.com/office/drawing/2014/main" id="{CE841023-3CF3-A5EE-0D14-AF5B3D06D95E}"/>
              </a:ext>
            </a:extLst>
          </p:cNvPr>
          <p:cNvPicPr>
            <a:picLocks noChangeAspect="1"/>
          </p:cNvPicPr>
          <p:nvPr/>
        </p:nvPicPr>
        <p:blipFill>
          <a:blip r:embed="rId3"/>
          <a:srcRect l="-155" r="-385" b="12675"/>
          <a:stretch/>
        </p:blipFill>
        <p:spPr>
          <a:xfrm>
            <a:off x="801159" y="3430737"/>
            <a:ext cx="2822572" cy="1247008"/>
          </a:xfrm>
          <a:prstGeom prst="rect">
            <a:avLst/>
          </a:prstGeom>
        </p:spPr>
      </p:pic>
      <p:pic>
        <p:nvPicPr>
          <p:cNvPr id="12" name="Picture 11" descr="A diagram of a box plot&#10;&#10;AI-generated content may be incorrect.">
            <a:extLst>
              <a:ext uri="{FF2B5EF4-FFF2-40B4-BE49-F238E27FC236}">
                <a16:creationId xmlns:a16="http://schemas.microsoft.com/office/drawing/2014/main" id="{E7BC4A66-C585-9D54-5170-8B5F372A6288}"/>
              </a:ext>
            </a:extLst>
          </p:cNvPr>
          <p:cNvPicPr>
            <a:picLocks noChangeAspect="1"/>
          </p:cNvPicPr>
          <p:nvPr/>
        </p:nvPicPr>
        <p:blipFill>
          <a:blip r:embed="rId4"/>
          <a:stretch>
            <a:fillRect/>
          </a:stretch>
        </p:blipFill>
        <p:spPr>
          <a:xfrm>
            <a:off x="5144795" y="3259040"/>
            <a:ext cx="3487921" cy="1283598"/>
          </a:xfrm>
          <a:prstGeom prst="rect">
            <a:avLst/>
          </a:prstGeom>
        </p:spPr>
      </p:pic>
      <p:sp>
        <p:nvSpPr>
          <p:cNvPr id="4" name="TextBox 3">
            <a:extLst>
              <a:ext uri="{FF2B5EF4-FFF2-40B4-BE49-F238E27FC236}">
                <a16:creationId xmlns:a16="http://schemas.microsoft.com/office/drawing/2014/main" id="{349D0543-5CC1-768C-52B2-14B3B5501F72}"/>
              </a:ext>
            </a:extLst>
          </p:cNvPr>
          <p:cNvSpPr txBox="1"/>
          <p:nvPr/>
        </p:nvSpPr>
        <p:spPr>
          <a:xfrm>
            <a:off x="5613639" y="2974604"/>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chemeClr val="tx1"/>
                </a:solidFill>
                <a:latin typeface="Calibri"/>
                <a:ea typeface="Calibri"/>
                <a:cs typeface="Calibri"/>
              </a:rPr>
              <a:t>Histogram of Z-scores</a:t>
            </a:r>
            <a:endParaRPr lang="en-US">
              <a:solidFill>
                <a:schemeClr val="tx1"/>
              </a:solidFill>
            </a:endParaRPr>
          </a:p>
        </p:txBody>
      </p:sp>
      <p:sp>
        <p:nvSpPr>
          <p:cNvPr id="9" name="Title 8">
            <a:extLst>
              <a:ext uri="{FF2B5EF4-FFF2-40B4-BE49-F238E27FC236}">
                <a16:creationId xmlns:a16="http://schemas.microsoft.com/office/drawing/2014/main" id="{4004BA25-AD25-F38E-F473-D1B2E61B0B01}"/>
              </a:ext>
            </a:extLst>
          </p:cNvPr>
          <p:cNvSpPr>
            <a:spLocks noGrp="1"/>
          </p:cNvSpPr>
          <p:nvPr>
            <p:ph type="title"/>
          </p:nvPr>
        </p:nvSpPr>
        <p:spPr>
          <a:xfrm>
            <a:off x="342703" y="403716"/>
            <a:ext cx="7084200" cy="619500"/>
          </a:xfrm>
        </p:spPr>
        <p:txBody>
          <a:bodyPr>
            <a:normAutofit/>
          </a:bodyPr>
          <a:lstStyle/>
          <a:p>
            <a:r>
              <a:rPr lang="en-US" sz="2800" b="1">
                <a:latin typeface="Calibri"/>
                <a:ea typeface="Calibri"/>
                <a:cs typeface="Calibri"/>
              </a:rPr>
              <a:t>EDA: Exploratory Data Analysis </a:t>
            </a:r>
            <a:endParaRPr lang="en-US" sz="2800">
              <a:solidFill>
                <a:srgbClr val="000000"/>
              </a:solidFill>
              <a:latin typeface="Calibri"/>
              <a:ea typeface="Calibri"/>
              <a:cs typeface="Calibri"/>
            </a:endParaRPr>
          </a:p>
          <a:p>
            <a:endParaRPr lang="en-US" sz="3200" b="1"/>
          </a:p>
        </p:txBody>
      </p:sp>
      <p:sp>
        <p:nvSpPr>
          <p:cNvPr id="7" name="TextBox 6">
            <a:extLst>
              <a:ext uri="{FF2B5EF4-FFF2-40B4-BE49-F238E27FC236}">
                <a16:creationId xmlns:a16="http://schemas.microsoft.com/office/drawing/2014/main" id="{4D17D621-B686-B40A-40B1-D1B069AE0BB9}"/>
              </a:ext>
            </a:extLst>
          </p:cNvPr>
          <p:cNvSpPr txBox="1"/>
          <p:nvPr/>
        </p:nvSpPr>
        <p:spPr>
          <a:xfrm>
            <a:off x="5613638" y="4539634"/>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chemeClr val="tx1"/>
                </a:solidFill>
                <a:latin typeface="Calibri"/>
                <a:ea typeface="Calibri"/>
                <a:cs typeface="Calibri"/>
              </a:rPr>
              <a:t>Boxplot of Z-scores</a:t>
            </a:r>
            <a:endParaRPr lang="en-US">
              <a:solidFill>
                <a:schemeClr val="tx1"/>
              </a:solidFill>
            </a:endParaRPr>
          </a:p>
        </p:txBody>
      </p:sp>
    </p:spTree>
    <p:extLst>
      <p:ext uri="{BB962C8B-B14F-4D97-AF65-F5344CB8AC3E}">
        <p14:creationId xmlns:p14="http://schemas.microsoft.com/office/powerpoint/2010/main" val="3845454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33CED87-5B5C-9511-02E2-2240AE81CFA0}"/>
              </a:ext>
            </a:extLst>
          </p:cNvPr>
          <p:cNvSpPr>
            <a:spLocks noGrp="1"/>
          </p:cNvSpPr>
          <p:nvPr>
            <p:ph type="body" idx="1"/>
          </p:nvPr>
        </p:nvSpPr>
        <p:spPr>
          <a:xfrm>
            <a:off x="547581" y="1068235"/>
            <a:ext cx="7972964" cy="3502053"/>
          </a:xfrm>
        </p:spPr>
        <p:txBody>
          <a:bodyPr>
            <a:normAutofit/>
          </a:bodyPr>
          <a:lstStyle/>
          <a:p>
            <a:pPr>
              <a:buFont typeface="Wingdings" panose="05000000000000000000" pitchFamily="2" charset="2"/>
              <a:buChar char="Ø"/>
            </a:pPr>
            <a:r>
              <a:rPr lang="en-US" sz="1200" b="1">
                <a:solidFill>
                  <a:schemeClr val="tx1"/>
                </a:solidFill>
              </a:rPr>
              <a:t>LAZY PREDICT: </a:t>
            </a:r>
            <a:r>
              <a:rPr lang="en-US" sz="1200" b="0" i="0">
                <a:solidFill>
                  <a:schemeClr val="tx1"/>
                </a:solidFill>
                <a:effectLst/>
              </a:rPr>
              <a:t>is an automated machine learning (</a:t>
            </a:r>
            <a:r>
              <a:rPr lang="en-US" sz="1200" b="0" i="0" err="1">
                <a:solidFill>
                  <a:schemeClr val="tx1"/>
                </a:solidFill>
                <a:effectLst/>
              </a:rPr>
              <a:t>AutoML</a:t>
            </a:r>
            <a:r>
              <a:rPr lang="en-US" sz="1200" b="0" i="0">
                <a:solidFill>
                  <a:schemeClr val="tx1"/>
                </a:solidFill>
                <a:effectLst/>
              </a:rPr>
              <a:t>) tool that quickly tests and compares multiple ML models with minimal code.</a:t>
            </a:r>
            <a:r>
              <a:rPr lang="en-US" sz="1200">
                <a:solidFill>
                  <a:schemeClr val="tx1"/>
                </a:solidFill>
              </a:rPr>
              <a:t> </a:t>
            </a:r>
            <a:r>
              <a:rPr lang="en-IN" sz="1200" b="0" i="0">
                <a:solidFill>
                  <a:schemeClr val="tx1"/>
                </a:solidFill>
                <a:effectLst/>
              </a:rPr>
              <a:t>Identified top regression models (Z-score target).</a:t>
            </a:r>
          </a:p>
          <a:p>
            <a:pPr>
              <a:buFont typeface="Wingdings" panose="05000000000000000000" pitchFamily="2" charset="2"/>
              <a:buChar char="Ø"/>
            </a:pPr>
            <a:r>
              <a:rPr lang="en-IN" sz="1200"/>
              <a:t>Based on the evaluation results, the top 6 models with fine-tuned hyperparameters are: </a:t>
            </a:r>
            <a:r>
              <a:rPr lang="en-IN" sz="1200" b="1" err="1"/>
              <a:t>ExtraTreesRegressor</a:t>
            </a:r>
            <a:r>
              <a:rPr lang="en-IN" sz="1200" b="1"/>
              <a:t>, </a:t>
            </a:r>
            <a:r>
              <a:rPr lang="en-IN" sz="1200" b="1" err="1"/>
              <a:t>BaggingRegressor</a:t>
            </a:r>
            <a:r>
              <a:rPr lang="en-IN" sz="1200" b="1"/>
              <a:t>, </a:t>
            </a:r>
            <a:r>
              <a:rPr lang="en-IN" sz="1200" b="1" err="1"/>
              <a:t>HistGradientBoostingRegressor</a:t>
            </a:r>
            <a:r>
              <a:rPr lang="en-IN" sz="1200" b="1"/>
              <a:t>, </a:t>
            </a:r>
            <a:r>
              <a:rPr lang="en-IN" sz="1200" b="1" err="1"/>
              <a:t>MLPRegressor</a:t>
            </a:r>
            <a:r>
              <a:rPr lang="en-IN" sz="1200" b="1"/>
              <a:t>, </a:t>
            </a:r>
            <a:r>
              <a:rPr lang="en-IN" sz="1200" b="1" err="1"/>
              <a:t>KNeighborsRegressor</a:t>
            </a:r>
            <a:r>
              <a:rPr lang="en-IN" sz="1200" b="1"/>
              <a:t>,</a:t>
            </a:r>
            <a:r>
              <a:rPr lang="en-IN" sz="1200"/>
              <a:t> and </a:t>
            </a:r>
            <a:r>
              <a:rPr lang="en-IN" sz="1200" b="1"/>
              <a:t>DecisionTreeRegressor</a:t>
            </a:r>
            <a:r>
              <a:rPr lang="en-IN" sz="1200"/>
              <a:t>, ranked by R² score and RMSE.</a:t>
            </a:r>
          </a:p>
          <a:p>
            <a:pPr>
              <a:buFont typeface="Wingdings" panose="05000000000000000000" pitchFamily="2" charset="2"/>
              <a:buChar char="Ø"/>
            </a:pPr>
            <a:endParaRPr lang="en-US" sz="120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139700" indent="0">
              <a:buNone/>
            </a:pPr>
            <a:endParaRPr lang="en-IN" sz="1200">
              <a:solidFill>
                <a:schemeClr val="tx1"/>
              </a:solidFill>
            </a:endParaRPr>
          </a:p>
        </p:txBody>
      </p:sp>
      <p:pic>
        <p:nvPicPr>
          <p:cNvPr id="5" name="Picture 4" descr="A screen shot of a computer&#10;&#10;AI-generated content may be incorrect.">
            <a:extLst>
              <a:ext uri="{FF2B5EF4-FFF2-40B4-BE49-F238E27FC236}">
                <a16:creationId xmlns:a16="http://schemas.microsoft.com/office/drawing/2014/main" id="{43CA069F-C05B-2A74-39F8-F0E7F6D35F2A}"/>
              </a:ext>
            </a:extLst>
          </p:cNvPr>
          <p:cNvPicPr>
            <a:picLocks noChangeAspect="1"/>
          </p:cNvPicPr>
          <p:nvPr/>
        </p:nvPicPr>
        <p:blipFill>
          <a:blip r:embed="rId2"/>
          <a:stretch>
            <a:fillRect/>
          </a:stretch>
        </p:blipFill>
        <p:spPr>
          <a:xfrm>
            <a:off x="631937" y="2228614"/>
            <a:ext cx="3978039" cy="2453120"/>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8E67E8A9-EB83-3890-FFE9-137B360FDC5C}"/>
              </a:ext>
            </a:extLst>
          </p:cNvPr>
          <p:cNvPicPr>
            <a:picLocks noChangeAspect="1"/>
          </p:cNvPicPr>
          <p:nvPr/>
        </p:nvPicPr>
        <p:blipFill>
          <a:blip r:embed="rId3"/>
          <a:stretch>
            <a:fillRect/>
          </a:stretch>
        </p:blipFill>
        <p:spPr>
          <a:xfrm>
            <a:off x="4963907" y="2313348"/>
            <a:ext cx="3743282" cy="1722935"/>
          </a:xfrm>
          <a:prstGeom prst="rect">
            <a:avLst/>
          </a:prstGeom>
        </p:spPr>
      </p:pic>
      <p:sp>
        <p:nvSpPr>
          <p:cNvPr id="2" name="TextBox 1">
            <a:extLst>
              <a:ext uri="{FF2B5EF4-FFF2-40B4-BE49-F238E27FC236}">
                <a16:creationId xmlns:a16="http://schemas.microsoft.com/office/drawing/2014/main" id="{3C7D326C-B0A6-F33B-8690-BAE16190911A}"/>
              </a:ext>
            </a:extLst>
          </p:cNvPr>
          <p:cNvSpPr txBox="1"/>
          <p:nvPr/>
        </p:nvSpPr>
        <p:spPr>
          <a:xfrm>
            <a:off x="635767" y="299337"/>
            <a:ext cx="355192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3EADA7"/>
                </a:solidFill>
                <a:latin typeface="Calibri"/>
                <a:ea typeface="Calibri"/>
                <a:cs typeface="Calibri"/>
              </a:rPr>
              <a:t>  MODEL DEVELOPMENT </a:t>
            </a:r>
            <a:endParaRPr lang="en-US" sz="2400">
              <a:latin typeface="Calibri"/>
              <a:ea typeface="Calibri"/>
              <a:cs typeface="Calibri"/>
            </a:endParaRPr>
          </a:p>
        </p:txBody>
      </p:sp>
      <p:sp>
        <p:nvSpPr>
          <p:cNvPr id="4" name="TextBox 3">
            <a:extLst>
              <a:ext uri="{FF2B5EF4-FFF2-40B4-BE49-F238E27FC236}">
                <a16:creationId xmlns:a16="http://schemas.microsoft.com/office/drawing/2014/main" id="{121EBC24-E392-D508-A0BE-553E68F4BE59}"/>
              </a:ext>
            </a:extLst>
          </p:cNvPr>
          <p:cNvSpPr txBox="1"/>
          <p:nvPr/>
        </p:nvSpPr>
        <p:spPr>
          <a:xfrm>
            <a:off x="1257083" y="4676380"/>
            <a:ext cx="32823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Lazy Predict Regression Model Results</a:t>
            </a:r>
          </a:p>
        </p:txBody>
      </p:sp>
      <p:sp>
        <p:nvSpPr>
          <p:cNvPr id="6" name="TextBox 5">
            <a:extLst>
              <a:ext uri="{FF2B5EF4-FFF2-40B4-BE49-F238E27FC236}">
                <a16:creationId xmlns:a16="http://schemas.microsoft.com/office/drawing/2014/main" id="{BBF390B1-4DDA-D6AD-61F6-182003A407A6}"/>
              </a:ext>
            </a:extLst>
          </p:cNvPr>
          <p:cNvSpPr txBox="1"/>
          <p:nvPr/>
        </p:nvSpPr>
        <p:spPr>
          <a:xfrm>
            <a:off x="5575898" y="4022928"/>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Top 6 ML Model Results</a:t>
            </a:r>
          </a:p>
        </p:txBody>
      </p:sp>
    </p:spTree>
    <p:extLst>
      <p:ext uri="{BB962C8B-B14F-4D97-AF65-F5344CB8AC3E}">
        <p14:creationId xmlns:p14="http://schemas.microsoft.com/office/powerpoint/2010/main" val="701798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A90C93A-2379-1DD1-5ED3-72B989D8BFEF}"/>
              </a:ext>
            </a:extLst>
          </p:cNvPr>
          <p:cNvGraphicFramePr>
            <a:graphicFrameLocks noGrp="1"/>
          </p:cNvGraphicFramePr>
          <p:nvPr>
            <p:extLst>
              <p:ext uri="{D42A27DB-BD31-4B8C-83A1-F6EECF244321}">
                <p14:modId xmlns:p14="http://schemas.microsoft.com/office/powerpoint/2010/main" val="4014874850"/>
              </p:ext>
            </p:extLst>
          </p:nvPr>
        </p:nvGraphicFramePr>
        <p:xfrm>
          <a:off x="229250" y="1487317"/>
          <a:ext cx="8692007" cy="3566091"/>
        </p:xfrm>
        <a:graphic>
          <a:graphicData uri="http://schemas.openxmlformats.org/drawingml/2006/table">
            <a:tbl>
              <a:tblPr firstRow="1" firstCol="1" bandRow="1">
                <a:tableStyleId>{5C22544A-7EE6-4342-B048-85BDC9FD1C3A}</a:tableStyleId>
              </a:tblPr>
              <a:tblGrid>
                <a:gridCol w="2137410">
                  <a:extLst>
                    <a:ext uri="{9D8B030D-6E8A-4147-A177-3AD203B41FA5}">
                      <a16:colId xmlns:a16="http://schemas.microsoft.com/office/drawing/2014/main" val="119345029"/>
                    </a:ext>
                  </a:extLst>
                </a:gridCol>
                <a:gridCol w="2675951">
                  <a:extLst>
                    <a:ext uri="{9D8B030D-6E8A-4147-A177-3AD203B41FA5}">
                      <a16:colId xmlns:a16="http://schemas.microsoft.com/office/drawing/2014/main" val="1702649517"/>
                    </a:ext>
                  </a:extLst>
                </a:gridCol>
                <a:gridCol w="780260">
                  <a:extLst>
                    <a:ext uri="{9D8B030D-6E8A-4147-A177-3AD203B41FA5}">
                      <a16:colId xmlns:a16="http://schemas.microsoft.com/office/drawing/2014/main" val="1408949164"/>
                    </a:ext>
                  </a:extLst>
                </a:gridCol>
                <a:gridCol w="836883">
                  <a:extLst>
                    <a:ext uri="{9D8B030D-6E8A-4147-A177-3AD203B41FA5}">
                      <a16:colId xmlns:a16="http://schemas.microsoft.com/office/drawing/2014/main" val="2397641055"/>
                    </a:ext>
                  </a:extLst>
                </a:gridCol>
                <a:gridCol w="2261503">
                  <a:extLst>
                    <a:ext uri="{9D8B030D-6E8A-4147-A177-3AD203B41FA5}">
                      <a16:colId xmlns:a16="http://schemas.microsoft.com/office/drawing/2014/main" val="3594114400"/>
                    </a:ext>
                  </a:extLst>
                </a:gridCol>
              </a:tblGrid>
              <a:tr h="600233">
                <a:tc>
                  <a:txBody>
                    <a:bodyPr/>
                    <a:lstStyle/>
                    <a:p>
                      <a:pPr algn="ctr">
                        <a:lnSpc>
                          <a:spcPct val="107000"/>
                        </a:lnSpc>
                        <a:spcAft>
                          <a:spcPts val="800"/>
                        </a:spcAft>
                        <a:buNone/>
                      </a:pPr>
                      <a:r>
                        <a:rPr lang="en-IN" sz="1400" b="1" kern="100">
                          <a:solidFill>
                            <a:schemeClr val="tx1"/>
                          </a:solidFill>
                          <a:effectLst/>
                          <a:latin typeface="Calibri"/>
                        </a:rPr>
                        <a:t>Model</a:t>
                      </a:r>
                      <a:endParaRPr lang="en-IN" sz="1400" b="1" kern="100">
                        <a:solidFill>
                          <a:schemeClr val="tx1"/>
                        </a:solidFill>
                        <a:effectLst/>
                        <a:latin typeface="Calibri"/>
                        <a:ea typeface="Calibri"/>
                        <a:cs typeface="Cordia New"/>
                      </a:endParaRPr>
                    </a:p>
                  </a:txBody>
                  <a:tcPr marL="9035" marR="9035" marT="9035" marB="9035" anchor="ctr"/>
                </a:tc>
                <a:tc>
                  <a:txBody>
                    <a:bodyPr/>
                    <a:lstStyle/>
                    <a:p>
                      <a:pPr algn="ctr">
                        <a:lnSpc>
                          <a:spcPct val="107000"/>
                        </a:lnSpc>
                        <a:spcAft>
                          <a:spcPts val="800"/>
                        </a:spcAft>
                        <a:buNone/>
                      </a:pPr>
                      <a:r>
                        <a:rPr lang="en-IN" sz="1400" b="1" kern="100">
                          <a:solidFill>
                            <a:schemeClr val="tx1"/>
                          </a:solidFill>
                          <a:effectLst/>
                          <a:latin typeface="Calibri"/>
                          <a:ea typeface="Calibri"/>
                          <a:cs typeface="Cordia New"/>
                        </a:rPr>
                        <a:t>Definition</a:t>
                      </a:r>
                    </a:p>
                  </a:txBody>
                  <a:tcPr marL="9035" marR="9035" marT="9035" marB="9035" anchor="ctr"/>
                </a:tc>
                <a:tc>
                  <a:txBody>
                    <a:bodyPr/>
                    <a:lstStyle/>
                    <a:p>
                      <a:pPr algn="ctr">
                        <a:lnSpc>
                          <a:spcPct val="107000"/>
                        </a:lnSpc>
                        <a:spcAft>
                          <a:spcPts val="800"/>
                        </a:spcAft>
                        <a:buNone/>
                      </a:pPr>
                      <a:r>
                        <a:rPr lang="en-IN" sz="1400" b="1" kern="100">
                          <a:solidFill>
                            <a:schemeClr val="tx1"/>
                          </a:solidFill>
                          <a:effectLst/>
                          <a:latin typeface="Calibri"/>
                        </a:rPr>
                        <a:t>R² Score</a:t>
                      </a:r>
                      <a:endParaRPr lang="en-IN" sz="1400" b="1" kern="100">
                        <a:solidFill>
                          <a:schemeClr val="tx1"/>
                        </a:solidFill>
                        <a:effectLst/>
                        <a:latin typeface="Calibri"/>
                        <a:ea typeface="Calibri"/>
                        <a:cs typeface="Cordia New"/>
                      </a:endParaRPr>
                    </a:p>
                  </a:txBody>
                  <a:tcPr marL="9035" marR="9035" marT="9035" marB="9035" anchor="ctr"/>
                </a:tc>
                <a:tc>
                  <a:txBody>
                    <a:bodyPr/>
                    <a:lstStyle/>
                    <a:p>
                      <a:pPr algn="ctr">
                        <a:lnSpc>
                          <a:spcPct val="107000"/>
                        </a:lnSpc>
                        <a:spcAft>
                          <a:spcPts val="800"/>
                        </a:spcAft>
                        <a:buNone/>
                      </a:pPr>
                      <a:r>
                        <a:rPr lang="en-IN" sz="1400" b="1" kern="100">
                          <a:solidFill>
                            <a:schemeClr val="tx1"/>
                          </a:solidFill>
                          <a:effectLst/>
                          <a:latin typeface="Calibri"/>
                        </a:rPr>
                        <a:t>RMSE</a:t>
                      </a:r>
                      <a:endParaRPr lang="en-IN" sz="1400" b="1" kern="100">
                        <a:solidFill>
                          <a:schemeClr val="tx1"/>
                        </a:solidFill>
                        <a:effectLst/>
                        <a:latin typeface="Calibri"/>
                        <a:ea typeface="Calibri"/>
                        <a:cs typeface="Cordia New"/>
                      </a:endParaRPr>
                    </a:p>
                  </a:txBody>
                  <a:tcPr marL="9035" marR="9035" marT="9035" marB="9035" anchor="ctr"/>
                </a:tc>
                <a:tc>
                  <a:txBody>
                    <a:bodyPr/>
                    <a:lstStyle/>
                    <a:p>
                      <a:pPr algn="ctr">
                        <a:lnSpc>
                          <a:spcPct val="107000"/>
                        </a:lnSpc>
                        <a:spcAft>
                          <a:spcPts val="800"/>
                        </a:spcAft>
                        <a:buNone/>
                      </a:pPr>
                      <a:r>
                        <a:rPr lang="en-IN" sz="1400" b="1" kern="100">
                          <a:solidFill>
                            <a:schemeClr val="tx1"/>
                          </a:solidFill>
                          <a:effectLst/>
                          <a:latin typeface="Calibri"/>
                        </a:rPr>
                        <a:t>Interpretation</a:t>
                      </a:r>
                      <a:endParaRPr lang="en-IN" sz="1400" b="1" kern="100">
                        <a:solidFill>
                          <a:schemeClr val="tx1"/>
                        </a:solidFill>
                        <a:effectLst/>
                        <a:latin typeface="Calibri"/>
                        <a:ea typeface="Calibri"/>
                        <a:cs typeface="Cordia New"/>
                      </a:endParaRPr>
                    </a:p>
                  </a:txBody>
                  <a:tcPr marL="9035" marR="9035" marT="9035" marB="9035" anchor="ctr"/>
                </a:tc>
                <a:extLst>
                  <a:ext uri="{0D108BD9-81ED-4DB2-BD59-A6C34878D82A}">
                    <a16:rowId xmlns:a16="http://schemas.microsoft.com/office/drawing/2014/main" val="1666279683"/>
                  </a:ext>
                </a:extLst>
              </a:tr>
              <a:tr h="364847">
                <a:tc>
                  <a:txBody>
                    <a:bodyPr/>
                    <a:lstStyle/>
                    <a:p>
                      <a:pPr algn="l">
                        <a:lnSpc>
                          <a:spcPct val="107000"/>
                        </a:lnSpc>
                        <a:spcAft>
                          <a:spcPts val="800"/>
                        </a:spcAft>
                        <a:buNone/>
                      </a:pPr>
                      <a:r>
                        <a:rPr lang="en-IN" sz="1000" kern="100">
                          <a:solidFill>
                            <a:schemeClr val="tx1"/>
                          </a:solidFill>
                          <a:effectLst/>
                        </a:rPr>
                        <a:t>Extra Trees Regressor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US" sz="1000">
                          <a:solidFill>
                            <a:schemeClr val="tx1"/>
                          </a:solidFill>
                        </a:rPr>
                        <a:t>Builds trees like Random Forest but uses random split points for added randomness.</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0.929</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0.375</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IN" sz="1000" kern="100">
                          <a:solidFill>
                            <a:schemeClr val="tx1"/>
                          </a:solidFill>
                          <a:effectLst/>
                        </a:rPr>
                        <a:t>Best performance – highest accuracy and lowest error.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extLst>
                  <a:ext uri="{0D108BD9-81ED-4DB2-BD59-A6C34878D82A}">
                    <a16:rowId xmlns:a16="http://schemas.microsoft.com/office/drawing/2014/main" val="540334332"/>
                  </a:ext>
                </a:extLst>
              </a:tr>
              <a:tr h="364847">
                <a:tc>
                  <a:txBody>
                    <a:bodyPr/>
                    <a:lstStyle/>
                    <a:p>
                      <a:pPr algn="l">
                        <a:lnSpc>
                          <a:spcPct val="107000"/>
                        </a:lnSpc>
                        <a:spcAft>
                          <a:spcPts val="800"/>
                        </a:spcAft>
                        <a:buNone/>
                      </a:pPr>
                      <a:r>
                        <a:rPr lang="en-IN" sz="1000" kern="100">
                          <a:solidFill>
                            <a:schemeClr val="tx1"/>
                          </a:solidFill>
                          <a:effectLst/>
                        </a:rPr>
                        <a:t>Bagging Regressor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US" sz="1000">
                          <a:solidFill>
                            <a:schemeClr val="tx1"/>
                          </a:solidFill>
                        </a:rPr>
                        <a:t>Trains multiple regressors on random data subsets and averages their predictions.</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0.920</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0.398</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IN" sz="1000" kern="100">
                          <a:solidFill>
                            <a:schemeClr val="tx1"/>
                          </a:solidFill>
                          <a:effectLst/>
                        </a:rPr>
                        <a:t>Very good performance, slightly below </a:t>
                      </a:r>
                      <a:r>
                        <a:rPr lang="en-IN" sz="1000" kern="100" err="1">
                          <a:solidFill>
                            <a:schemeClr val="tx1"/>
                          </a:solidFill>
                          <a:effectLst/>
                        </a:rPr>
                        <a:t>ExtraTrees</a:t>
                      </a:r>
                      <a:r>
                        <a:rPr lang="en-IN" sz="1000" kern="100">
                          <a:solidFill>
                            <a:schemeClr val="tx1"/>
                          </a:solidFill>
                          <a:effectLst/>
                        </a:rPr>
                        <a:t>.</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extLst>
                  <a:ext uri="{0D108BD9-81ED-4DB2-BD59-A6C34878D82A}">
                    <a16:rowId xmlns:a16="http://schemas.microsoft.com/office/drawing/2014/main" val="4130312082"/>
                  </a:ext>
                </a:extLst>
              </a:tr>
              <a:tr h="517848">
                <a:tc>
                  <a:txBody>
                    <a:bodyPr/>
                    <a:lstStyle/>
                    <a:p>
                      <a:pPr algn="l">
                        <a:lnSpc>
                          <a:spcPct val="107000"/>
                        </a:lnSpc>
                        <a:spcAft>
                          <a:spcPts val="800"/>
                        </a:spcAft>
                        <a:buNone/>
                      </a:pPr>
                      <a:r>
                        <a:rPr lang="en-IN" sz="1000" kern="100">
                          <a:solidFill>
                            <a:schemeClr val="tx1"/>
                          </a:solidFill>
                          <a:effectLst/>
                        </a:rPr>
                        <a:t>Hist Gradient Boosting Regressor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US" sz="1000">
                          <a:solidFill>
                            <a:schemeClr val="tx1"/>
                          </a:solidFill>
                        </a:rPr>
                        <a:t>Boosting method that builds trees sequentially, using histogram-based binning for speed.</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0.904</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0.435</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IN" sz="1000" kern="100">
                          <a:solidFill>
                            <a:schemeClr val="tx1"/>
                          </a:solidFill>
                          <a:effectLst/>
                        </a:rPr>
                        <a:t>Strong model, good accuracy.</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extLst>
                  <a:ext uri="{0D108BD9-81ED-4DB2-BD59-A6C34878D82A}">
                    <a16:rowId xmlns:a16="http://schemas.microsoft.com/office/drawing/2014/main" val="2032097098"/>
                  </a:ext>
                </a:extLst>
              </a:tr>
              <a:tr h="600233">
                <a:tc>
                  <a:txBody>
                    <a:bodyPr/>
                    <a:lstStyle/>
                    <a:p>
                      <a:pPr algn="l">
                        <a:lnSpc>
                          <a:spcPct val="107000"/>
                        </a:lnSpc>
                        <a:spcAft>
                          <a:spcPts val="800"/>
                        </a:spcAft>
                        <a:buNone/>
                      </a:pPr>
                      <a:r>
                        <a:rPr lang="en-IN" sz="1000" kern="100">
                          <a:solidFill>
                            <a:schemeClr val="tx1"/>
                          </a:solidFill>
                          <a:effectLst/>
                        </a:rPr>
                        <a:t>MLP Regressor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US" sz="1000">
                          <a:solidFill>
                            <a:schemeClr val="tx1"/>
                          </a:solidFill>
                        </a:rPr>
                        <a:t>Uses fully connected layers to learn complex data patterns.</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0.894</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0.457</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IN" sz="1000" kern="100">
                          <a:solidFill>
                            <a:schemeClr val="tx1"/>
                          </a:solidFill>
                          <a:effectLst/>
                        </a:rPr>
                        <a:t>Neural network with decent performance, slightly behind ensemble methods.</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extLst>
                  <a:ext uri="{0D108BD9-81ED-4DB2-BD59-A6C34878D82A}">
                    <a16:rowId xmlns:a16="http://schemas.microsoft.com/office/drawing/2014/main" val="3431199164"/>
                  </a:ext>
                </a:extLst>
              </a:tr>
              <a:tr h="553157">
                <a:tc>
                  <a:txBody>
                    <a:bodyPr/>
                    <a:lstStyle/>
                    <a:p>
                      <a:pPr algn="l">
                        <a:lnSpc>
                          <a:spcPct val="107000"/>
                        </a:lnSpc>
                        <a:spcAft>
                          <a:spcPts val="800"/>
                        </a:spcAft>
                        <a:buNone/>
                      </a:pPr>
                      <a:r>
                        <a:rPr lang="en-IN" sz="1000" kern="100">
                          <a:solidFill>
                            <a:schemeClr val="tx1"/>
                          </a:solidFill>
                          <a:effectLst/>
                        </a:rPr>
                        <a:t>K-Neighbors Regressor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r>
                        <a:rPr lang="en-US" sz="1000">
                          <a:solidFill>
                            <a:schemeClr val="tx1"/>
                          </a:solidFill>
                        </a:rPr>
                        <a:t>Predicts target by averaging outputs of k nearest neighbors.</a:t>
                      </a: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0.890</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0.467</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IN" sz="1000" kern="100">
                          <a:solidFill>
                            <a:schemeClr val="tx1"/>
                          </a:solidFill>
                          <a:effectLst/>
                        </a:rPr>
                        <a:t>Performs reasonably well, but less accurate than ensemble methods.</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extLst>
                  <a:ext uri="{0D108BD9-81ED-4DB2-BD59-A6C34878D82A}">
                    <a16:rowId xmlns:a16="http://schemas.microsoft.com/office/drawing/2014/main" val="1196219287"/>
                  </a:ext>
                </a:extLst>
              </a:tr>
              <a:tr h="564926">
                <a:tc>
                  <a:txBody>
                    <a:bodyPr/>
                    <a:lstStyle/>
                    <a:p>
                      <a:pPr algn="l">
                        <a:lnSpc>
                          <a:spcPct val="107000"/>
                        </a:lnSpc>
                        <a:spcAft>
                          <a:spcPts val="800"/>
                        </a:spcAft>
                        <a:buNone/>
                      </a:pPr>
                      <a:r>
                        <a:rPr lang="en-IN" sz="1000" kern="100">
                          <a:solidFill>
                            <a:schemeClr val="tx1"/>
                          </a:solidFill>
                          <a:effectLst/>
                        </a:rPr>
                        <a:t>Decision Tree Regressor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US" sz="1000">
                          <a:solidFill>
                            <a:schemeClr val="tx1"/>
                          </a:solidFill>
                        </a:rPr>
                        <a:t>Recursively splits data by features to reduce prediction error.</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0.528</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ctr">
                        <a:lnSpc>
                          <a:spcPct val="107000"/>
                        </a:lnSpc>
                        <a:spcAft>
                          <a:spcPts val="800"/>
                        </a:spcAft>
                        <a:buNone/>
                      </a:pPr>
                      <a:r>
                        <a:rPr lang="en-IN" sz="1000" kern="100">
                          <a:solidFill>
                            <a:schemeClr val="tx1"/>
                          </a:solidFill>
                          <a:effectLst/>
                        </a:rPr>
                        <a:t>0.965</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tc>
                  <a:txBody>
                    <a:bodyPr/>
                    <a:lstStyle/>
                    <a:p>
                      <a:pPr algn="l">
                        <a:lnSpc>
                          <a:spcPct val="107000"/>
                        </a:lnSpc>
                        <a:spcAft>
                          <a:spcPts val="800"/>
                        </a:spcAft>
                        <a:buNone/>
                      </a:pPr>
                      <a:r>
                        <a:rPr lang="en-IN" sz="1000" kern="100">
                          <a:solidFill>
                            <a:schemeClr val="tx1"/>
                          </a:solidFill>
                          <a:effectLst/>
                        </a:rPr>
                        <a:t>Weakest performance, suggesting overfitting or underfitting.</a:t>
                      </a:r>
                      <a:endParaRPr lang="en-IN" sz="1000" kern="100">
                        <a:solidFill>
                          <a:schemeClr val="tx1"/>
                        </a:solidFill>
                        <a:effectLst/>
                        <a:latin typeface="Calibri" panose="020F0502020204030204" pitchFamily="34" charset="0"/>
                        <a:ea typeface="Calibri" panose="020F0502020204030204" pitchFamily="34" charset="0"/>
                        <a:cs typeface="Cordia New" panose="020B0304020202020204" pitchFamily="34" charset="-34"/>
                      </a:endParaRPr>
                    </a:p>
                  </a:txBody>
                  <a:tcPr marL="9035" marR="9035" marT="9035" marB="9035" anchor="ctr"/>
                </a:tc>
                <a:extLst>
                  <a:ext uri="{0D108BD9-81ED-4DB2-BD59-A6C34878D82A}">
                    <a16:rowId xmlns:a16="http://schemas.microsoft.com/office/drawing/2014/main" val="754271730"/>
                  </a:ext>
                </a:extLst>
              </a:tr>
            </a:tbl>
          </a:graphicData>
        </a:graphic>
      </p:graphicFrame>
      <p:sp>
        <p:nvSpPr>
          <p:cNvPr id="2" name="Title 1">
            <a:extLst>
              <a:ext uri="{FF2B5EF4-FFF2-40B4-BE49-F238E27FC236}">
                <a16:creationId xmlns:a16="http://schemas.microsoft.com/office/drawing/2014/main" id="{CD5088E0-2E27-5472-336D-515532B6FEDC}"/>
              </a:ext>
            </a:extLst>
          </p:cNvPr>
          <p:cNvSpPr>
            <a:spLocks noGrp="1"/>
          </p:cNvSpPr>
          <p:nvPr/>
        </p:nvSpPr>
        <p:spPr>
          <a:xfrm>
            <a:off x="633845" y="274320"/>
            <a:ext cx="7886700" cy="666960"/>
          </a:xfrm>
          <a:prstGeom prst="rect">
            <a:avLst/>
          </a:prstGeom>
          <a:noFill/>
          <a:ln>
            <a:noFill/>
          </a:ln>
        </p:spPr>
        <p:txBody>
          <a:bodyPr spcFirstLastPara="1" wrap="square" lIns="68575" tIns="34275" rIns="68575" bIns="34275"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EADA7"/>
              </a:buClr>
              <a:buSzPts val="1400"/>
              <a:buFont typeface="Quattrocento Sans"/>
              <a:buNone/>
              <a:defRPr sz="3300" b="0" i="0" u="none" strike="noStrike" cap="none">
                <a:solidFill>
                  <a:srgbClr val="3EADA7"/>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lgn="ctr"/>
            <a:r>
              <a:rPr lang="en-US" b="1"/>
              <a:t>RESULTS</a:t>
            </a:r>
            <a:endParaRPr lang="en-IN" b="1"/>
          </a:p>
        </p:txBody>
      </p:sp>
      <p:sp>
        <p:nvSpPr>
          <p:cNvPr id="6" name="TextBox 5">
            <a:extLst>
              <a:ext uri="{FF2B5EF4-FFF2-40B4-BE49-F238E27FC236}">
                <a16:creationId xmlns:a16="http://schemas.microsoft.com/office/drawing/2014/main" id="{1CB69D9A-E54D-6F7A-45CF-0A423002D382}"/>
              </a:ext>
            </a:extLst>
          </p:cNvPr>
          <p:cNvSpPr txBox="1"/>
          <p:nvPr/>
        </p:nvSpPr>
        <p:spPr>
          <a:xfrm>
            <a:off x="366192" y="946318"/>
            <a:ext cx="37783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3EADA7"/>
                </a:solidFill>
                <a:latin typeface="Calibri"/>
                <a:ea typeface="Calibri"/>
                <a:cs typeface="Calibri"/>
              </a:rPr>
              <a:t>  Model Evaluation  </a:t>
            </a:r>
            <a:endParaRPr lang="en-US" sz="2400">
              <a:latin typeface="Calibri"/>
              <a:ea typeface="Calibri"/>
              <a:cs typeface="Calibri"/>
            </a:endParaRPr>
          </a:p>
        </p:txBody>
      </p:sp>
    </p:spTree>
    <p:extLst>
      <p:ext uri="{BB962C8B-B14F-4D97-AF65-F5344CB8AC3E}">
        <p14:creationId xmlns:p14="http://schemas.microsoft.com/office/powerpoint/2010/main" val="717750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showing a line graph&#10;&#10;AI-generated content may be incorrect.">
            <a:extLst>
              <a:ext uri="{FF2B5EF4-FFF2-40B4-BE49-F238E27FC236}">
                <a16:creationId xmlns:a16="http://schemas.microsoft.com/office/drawing/2014/main" id="{3759AAA2-ED3F-BEEA-08A1-18D42B8B2291}"/>
              </a:ext>
            </a:extLst>
          </p:cNvPr>
          <p:cNvPicPr>
            <a:picLocks noChangeAspect="1"/>
          </p:cNvPicPr>
          <p:nvPr/>
        </p:nvPicPr>
        <p:blipFill>
          <a:blip r:embed="rId2"/>
          <a:stretch>
            <a:fillRect/>
          </a:stretch>
        </p:blipFill>
        <p:spPr>
          <a:xfrm>
            <a:off x="595442" y="1196832"/>
            <a:ext cx="2220356" cy="1644564"/>
          </a:xfrm>
          <a:prstGeom prst="rect">
            <a:avLst/>
          </a:prstGeom>
        </p:spPr>
      </p:pic>
      <p:pic>
        <p:nvPicPr>
          <p:cNvPr id="7" name="Picture 6" descr="A graph showing a graph of a graph&#10;&#10;AI-generated content may be incorrect.">
            <a:extLst>
              <a:ext uri="{FF2B5EF4-FFF2-40B4-BE49-F238E27FC236}">
                <a16:creationId xmlns:a16="http://schemas.microsoft.com/office/drawing/2014/main" id="{B477B3EF-3FFC-4F27-CA08-6F6A0A13B9D9}"/>
              </a:ext>
            </a:extLst>
          </p:cNvPr>
          <p:cNvPicPr>
            <a:picLocks noChangeAspect="1"/>
          </p:cNvPicPr>
          <p:nvPr/>
        </p:nvPicPr>
        <p:blipFill>
          <a:blip r:embed="rId3"/>
          <a:stretch>
            <a:fillRect/>
          </a:stretch>
        </p:blipFill>
        <p:spPr>
          <a:xfrm>
            <a:off x="3162135" y="1150450"/>
            <a:ext cx="2236013" cy="1652393"/>
          </a:xfrm>
          <a:prstGeom prst="rect">
            <a:avLst/>
          </a:prstGeom>
        </p:spPr>
      </p:pic>
      <p:pic>
        <p:nvPicPr>
          <p:cNvPr id="9" name="Picture 8" descr="A graph showing a graph of value&#10;&#10;AI-generated content may be incorrect.">
            <a:extLst>
              <a:ext uri="{FF2B5EF4-FFF2-40B4-BE49-F238E27FC236}">
                <a16:creationId xmlns:a16="http://schemas.microsoft.com/office/drawing/2014/main" id="{FE04DACD-AFAC-BDE7-E7B3-EED7E289AC34}"/>
              </a:ext>
            </a:extLst>
          </p:cNvPr>
          <p:cNvPicPr>
            <a:picLocks noChangeAspect="1"/>
          </p:cNvPicPr>
          <p:nvPr/>
        </p:nvPicPr>
        <p:blipFill>
          <a:blip r:embed="rId4"/>
          <a:stretch>
            <a:fillRect/>
          </a:stretch>
        </p:blipFill>
        <p:spPr>
          <a:xfrm>
            <a:off x="5778314" y="1142622"/>
            <a:ext cx="2345614" cy="1746337"/>
          </a:xfrm>
          <a:prstGeom prst="rect">
            <a:avLst/>
          </a:prstGeom>
        </p:spPr>
      </p:pic>
      <p:pic>
        <p:nvPicPr>
          <p:cNvPr id="2" name="Picture 1" descr="A graph with blue dots&#10;&#10;AI-generated content may be incorrect.">
            <a:extLst>
              <a:ext uri="{FF2B5EF4-FFF2-40B4-BE49-F238E27FC236}">
                <a16:creationId xmlns:a16="http://schemas.microsoft.com/office/drawing/2014/main" id="{B51ABC40-97D2-3E68-776C-C5DA9DD46C49}"/>
              </a:ext>
            </a:extLst>
          </p:cNvPr>
          <p:cNvPicPr>
            <a:picLocks noChangeAspect="1"/>
          </p:cNvPicPr>
          <p:nvPr/>
        </p:nvPicPr>
        <p:blipFill>
          <a:blip r:embed="rId5"/>
          <a:stretch>
            <a:fillRect/>
          </a:stretch>
        </p:blipFill>
        <p:spPr>
          <a:xfrm>
            <a:off x="519374" y="2957448"/>
            <a:ext cx="2296309" cy="1725983"/>
          </a:xfrm>
          <a:prstGeom prst="rect">
            <a:avLst/>
          </a:prstGeom>
        </p:spPr>
      </p:pic>
      <p:pic>
        <p:nvPicPr>
          <p:cNvPr id="6" name="Picture 5" descr="A graph with blue dots&#10;&#10;AI-generated content may be incorrect.">
            <a:extLst>
              <a:ext uri="{FF2B5EF4-FFF2-40B4-BE49-F238E27FC236}">
                <a16:creationId xmlns:a16="http://schemas.microsoft.com/office/drawing/2014/main" id="{4171ECF1-A222-9F47-741D-0A61FD4C6030}"/>
              </a:ext>
            </a:extLst>
          </p:cNvPr>
          <p:cNvPicPr>
            <a:picLocks noChangeAspect="1"/>
          </p:cNvPicPr>
          <p:nvPr/>
        </p:nvPicPr>
        <p:blipFill>
          <a:blip r:embed="rId6"/>
          <a:stretch>
            <a:fillRect/>
          </a:stretch>
        </p:blipFill>
        <p:spPr>
          <a:xfrm>
            <a:off x="3003246" y="2958295"/>
            <a:ext cx="2401605" cy="1826061"/>
          </a:xfrm>
          <a:prstGeom prst="rect">
            <a:avLst/>
          </a:prstGeom>
        </p:spPr>
      </p:pic>
      <p:pic>
        <p:nvPicPr>
          <p:cNvPr id="10" name="Picture 9" descr="A graph with blue dots&#10;&#10;AI-generated content may be incorrect.">
            <a:extLst>
              <a:ext uri="{FF2B5EF4-FFF2-40B4-BE49-F238E27FC236}">
                <a16:creationId xmlns:a16="http://schemas.microsoft.com/office/drawing/2014/main" id="{1A96DAF3-3D3A-460B-5CAC-4A9D2250C429}"/>
              </a:ext>
            </a:extLst>
          </p:cNvPr>
          <p:cNvPicPr>
            <a:picLocks noChangeAspect="1"/>
          </p:cNvPicPr>
          <p:nvPr/>
        </p:nvPicPr>
        <p:blipFill>
          <a:blip r:embed="rId7"/>
          <a:stretch>
            <a:fillRect/>
          </a:stretch>
        </p:blipFill>
        <p:spPr>
          <a:xfrm>
            <a:off x="5642258" y="2887185"/>
            <a:ext cx="2486286" cy="1835193"/>
          </a:xfrm>
          <a:prstGeom prst="rect">
            <a:avLst/>
          </a:prstGeom>
        </p:spPr>
      </p:pic>
      <p:sp>
        <p:nvSpPr>
          <p:cNvPr id="12" name="TextBox 11">
            <a:extLst>
              <a:ext uri="{FF2B5EF4-FFF2-40B4-BE49-F238E27FC236}">
                <a16:creationId xmlns:a16="http://schemas.microsoft.com/office/drawing/2014/main" id="{AA6E3E46-6087-C721-00F5-3E8059CDCD46}"/>
              </a:ext>
            </a:extLst>
          </p:cNvPr>
          <p:cNvSpPr txBox="1"/>
          <p:nvPr/>
        </p:nvSpPr>
        <p:spPr>
          <a:xfrm>
            <a:off x="517154" y="266988"/>
            <a:ext cx="355192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3EADA7"/>
                </a:solidFill>
                <a:latin typeface="Calibri"/>
                <a:ea typeface="Calibri"/>
                <a:cs typeface="Calibri"/>
              </a:rPr>
              <a:t>  Model Visualization  </a:t>
            </a:r>
            <a:endParaRPr lang="en-US" sz="2400">
              <a:latin typeface="Calibri"/>
              <a:ea typeface="Calibri"/>
              <a:cs typeface="Calibri"/>
            </a:endParaRPr>
          </a:p>
        </p:txBody>
      </p:sp>
    </p:spTree>
    <p:extLst>
      <p:ext uri="{BB962C8B-B14F-4D97-AF65-F5344CB8AC3E}">
        <p14:creationId xmlns:p14="http://schemas.microsoft.com/office/powerpoint/2010/main" val="1061465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F24C91-8982-2016-5005-1030F4B4BD66}"/>
              </a:ext>
            </a:extLst>
          </p:cNvPr>
          <p:cNvSpPr>
            <a:spLocks noGrp="1"/>
          </p:cNvSpPr>
          <p:nvPr>
            <p:ph type="body" idx="1"/>
          </p:nvPr>
        </p:nvSpPr>
        <p:spPr/>
        <p:txBody>
          <a:bodyPr/>
          <a:lstStyle/>
          <a:p>
            <a:r>
              <a:rPr lang="en-US" sz="1200"/>
              <a:t>The feature importance graph shows that </a:t>
            </a:r>
            <a:r>
              <a:rPr lang="en-US" sz="1200" b="1"/>
              <a:t>SRX038532</a:t>
            </a:r>
            <a:r>
              <a:rPr lang="en-US" sz="1200"/>
              <a:t> is the most influential feature in the DecisionTreeRegressor model, contributing about </a:t>
            </a:r>
            <a:r>
              <a:rPr lang="en-US" sz="1200" b="1"/>
              <a:t>14%</a:t>
            </a:r>
            <a:r>
              <a:rPr lang="en-US" sz="1200"/>
              <a:t> to predictions. Other important features include </a:t>
            </a:r>
            <a:r>
              <a:rPr lang="en-US" sz="1200" b="1"/>
              <a:t>SRX038573</a:t>
            </a:r>
            <a:r>
              <a:rPr lang="en-US" sz="1200"/>
              <a:t>, </a:t>
            </a:r>
            <a:r>
              <a:rPr lang="en-US" sz="1200" b="1"/>
              <a:t>SRX038530</a:t>
            </a:r>
            <a:r>
              <a:rPr lang="en-US" sz="1200"/>
              <a:t>, and several numeric features. The </a:t>
            </a:r>
            <a:r>
              <a:rPr lang="en-US" sz="1200" b="1"/>
              <a:t>SRX features represent mutation profiles</a:t>
            </a:r>
            <a:r>
              <a:rPr lang="en-US" sz="1200"/>
              <a:t>, indicating that certain mutations strongly impact the model's output.</a:t>
            </a:r>
            <a:endParaRPr lang="en-US"/>
          </a:p>
        </p:txBody>
      </p:sp>
      <p:pic>
        <p:nvPicPr>
          <p:cNvPr id="4" name="Picture 3" descr="A green bar graph with white text&#10;&#10;AI-generated content may be incorrect.">
            <a:extLst>
              <a:ext uri="{FF2B5EF4-FFF2-40B4-BE49-F238E27FC236}">
                <a16:creationId xmlns:a16="http://schemas.microsoft.com/office/drawing/2014/main" id="{DDD811EE-DA60-882C-D1A4-64CB6FFD9E4A}"/>
              </a:ext>
            </a:extLst>
          </p:cNvPr>
          <p:cNvPicPr>
            <a:picLocks noChangeAspect="1"/>
          </p:cNvPicPr>
          <p:nvPr/>
        </p:nvPicPr>
        <p:blipFill>
          <a:blip r:embed="rId2"/>
          <a:stretch>
            <a:fillRect/>
          </a:stretch>
        </p:blipFill>
        <p:spPr>
          <a:xfrm>
            <a:off x="2443425" y="1782675"/>
            <a:ext cx="4413729" cy="2736807"/>
          </a:xfrm>
          <a:prstGeom prst="rect">
            <a:avLst/>
          </a:prstGeom>
        </p:spPr>
      </p:pic>
      <p:sp>
        <p:nvSpPr>
          <p:cNvPr id="6" name="TextBox 5">
            <a:extLst>
              <a:ext uri="{FF2B5EF4-FFF2-40B4-BE49-F238E27FC236}">
                <a16:creationId xmlns:a16="http://schemas.microsoft.com/office/drawing/2014/main" id="{0245D0B5-968F-2D92-F0F4-87FF47FE4033}"/>
              </a:ext>
            </a:extLst>
          </p:cNvPr>
          <p:cNvSpPr txBox="1"/>
          <p:nvPr/>
        </p:nvSpPr>
        <p:spPr>
          <a:xfrm>
            <a:off x="635767" y="299337"/>
            <a:ext cx="443613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3EADA7"/>
                </a:solidFill>
                <a:latin typeface="Calibri"/>
                <a:ea typeface="Calibri"/>
                <a:cs typeface="Calibri"/>
              </a:rPr>
              <a:t>  FEATURE IMPORTANCE</a:t>
            </a:r>
            <a:endParaRPr lang="en-US" sz="2400">
              <a:latin typeface="Calibri"/>
              <a:ea typeface="Calibri"/>
              <a:cs typeface="Calibri"/>
            </a:endParaRPr>
          </a:p>
        </p:txBody>
      </p:sp>
    </p:spTree>
    <p:extLst>
      <p:ext uri="{BB962C8B-B14F-4D97-AF65-F5344CB8AC3E}">
        <p14:creationId xmlns:p14="http://schemas.microsoft.com/office/powerpoint/2010/main" val="1585175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7"/>
          <p:cNvSpPr txBox="1">
            <a:spLocks noGrp="1"/>
          </p:cNvSpPr>
          <p:nvPr>
            <p:ph type="body" idx="1"/>
          </p:nvPr>
        </p:nvSpPr>
        <p:spPr>
          <a:xfrm>
            <a:off x="633845" y="1035886"/>
            <a:ext cx="7886700" cy="3599100"/>
          </a:xfrm>
          <a:prstGeom prst="rect">
            <a:avLst/>
          </a:prstGeom>
          <a:solidFill>
            <a:schemeClr val="bg1"/>
          </a:solidFill>
          <a:ln>
            <a:solidFill>
              <a:schemeClr val="bg2"/>
            </a:solidFill>
          </a:ln>
        </p:spPr>
        <p:txBody>
          <a:bodyPr spcFirstLastPara="1" wrap="square" lIns="68575" tIns="34275" rIns="68575" bIns="34275" anchor="t" anchorCtr="0">
            <a:normAutofit/>
          </a:bodyPr>
          <a:lstStyle/>
          <a:p>
            <a:pPr marL="139700" lvl="0" indent="0" algn="ctr" rtl="0">
              <a:lnSpc>
                <a:spcPct val="90000"/>
              </a:lnSpc>
              <a:spcBef>
                <a:spcPts val="800"/>
              </a:spcBef>
              <a:spcAft>
                <a:spcPts val="0"/>
              </a:spcAft>
              <a:buSzPts val="1400"/>
              <a:buNone/>
            </a:pPr>
            <a:endParaRPr sz="3000" b="1"/>
          </a:p>
          <a:p>
            <a:pPr marL="139700" lvl="0" indent="0" algn="ctr" rtl="0">
              <a:lnSpc>
                <a:spcPct val="90000"/>
              </a:lnSpc>
              <a:spcBef>
                <a:spcPts val="800"/>
              </a:spcBef>
              <a:spcAft>
                <a:spcPts val="0"/>
              </a:spcAft>
              <a:buSzPts val="1400"/>
              <a:buNone/>
            </a:pPr>
            <a:endParaRPr sz="3000" b="1"/>
          </a:p>
          <a:p>
            <a:pPr marL="139700" lvl="0" indent="0" algn="ctr" rtl="0">
              <a:lnSpc>
                <a:spcPct val="90000"/>
              </a:lnSpc>
              <a:spcBef>
                <a:spcPts val="800"/>
              </a:spcBef>
              <a:spcAft>
                <a:spcPts val="0"/>
              </a:spcAft>
              <a:buSzPts val="1400"/>
              <a:buNone/>
            </a:pPr>
            <a:r>
              <a:rPr lang="en-US" sz="4000" b="1"/>
              <a:t>THANK YOU</a:t>
            </a:r>
            <a:endParaRPr sz="40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11</Slides>
  <Notes>5</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   </vt:lpstr>
      <vt:lpstr>INTRODUCTION TO CRISPR SCREENING</vt:lpstr>
      <vt:lpstr>METHODOLOGY</vt:lpstr>
      <vt:lpstr>DATA COLLECTION </vt:lpstr>
      <vt:lpstr>DATA PREPARATION </vt:lpstr>
      <vt:lpstr>EDA: Exploratory Data Analysis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modified xsi:type="dcterms:W3CDTF">2025-05-06T17:50:51Z</dcterms:modified>
</cp:coreProperties>
</file>